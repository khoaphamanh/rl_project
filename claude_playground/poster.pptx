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2804000" cx="30276000"/>
  <p:notesSz cx="6858000" cy="9144000"/>
  <p:embeddedFontLst>
    <p:embeddedFont>
      <p:font typeface="IBM Plex Sans"/>
      <p:regular r:id="rId7"/>
      <p:bold r:id="rId8"/>
      <p:italic r:id="rId9"/>
      <p:boldItalic r:id="rId10"/>
    </p:embeddedFont>
    <p:embeddedFont>
      <p:font typeface="Lora"/>
      <p:regular r:id="rId11"/>
      <p:bold r:id="rId12"/>
      <p:italic r:id="rId13"/>
      <p:boldItalic r:id="rId14"/>
    </p:embeddedFont>
    <p:embeddedFont>
      <p:font typeface="IBM Plex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482" orient="horz"/>
        <p:guide pos="95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ora-regular.fntdata"/><Relationship Id="rId10" Type="http://schemas.openxmlformats.org/officeDocument/2006/relationships/font" Target="fonts/IBMPlexSans-boldItalic.fntdata"/><Relationship Id="rId13" Type="http://schemas.openxmlformats.org/officeDocument/2006/relationships/font" Target="fonts/Lora-italic.fntdata"/><Relationship Id="rId12" Type="http://schemas.openxmlformats.org/officeDocument/2006/relationships/font" Target="fonts/Lor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BMPlexSans-italic.fntdata"/><Relationship Id="rId15" Type="http://schemas.openxmlformats.org/officeDocument/2006/relationships/font" Target="fonts/IBMPlexMono-regular.fntdata"/><Relationship Id="rId14" Type="http://schemas.openxmlformats.org/officeDocument/2006/relationships/font" Target="fonts/Lora-boldItalic.fntdata"/><Relationship Id="rId17" Type="http://schemas.openxmlformats.org/officeDocument/2006/relationships/font" Target="fonts/IBMPlexMono-italic.fntdata"/><Relationship Id="rId16" Type="http://schemas.openxmlformats.org/officeDocument/2006/relationships/font" Target="fonts/IBMPlex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BMPlexMono-boldItalic.fntdata"/><Relationship Id="rId7" Type="http://schemas.openxmlformats.org/officeDocument/2006/relationships/font" Target="fonts/IBMPlexSans-regular.fntdata"/><Relationship Id="rId8" Type="http://schemas.openxmlformats.org/officeDocument/2006/relationships/font" Target="fonts/IBMPlex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650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f0b5ab663_0_68:notes"/>
          <p:cNvSpPr/>
          <p:nvPr>
            <p:ph idx="2" type="sldImg"/>
          </p:nvPr>
        </p:nvSpPr>
        <p:spPr>
          <a:xfrm>
            <a:off x="2216650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f0b5ab66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032046" y="4623681"/>
            <a:ext cx="9297300" cy="62892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032046" y="11564195"/>
            <a:ext cx="9297300" cy="264591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79077" y="23327077"/>
            <a:ext cx="13393800" cy="102783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032046" y="9205128"/>
            <a:ext cx="28212000" cy="16340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032046" y="26232690"/>
            <a:ext cx="28212000" cy="1082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4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indent="-704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indent="-704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indent="-704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indent="-704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indent="-704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indent="-704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indent="-704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880000" y="15264000"/>
            <a:ext cx="18073200" cy="26947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52000" y="15264000"/>
            <a:ext cx="11342700" cy="1649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48496" y="536200"/>
            <a:ext cx="29704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b="1" lang="de" sz="8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&lt;Titel&gt;</a:t>
            </a:r>
            <a:endParaRPr b="1" sz="8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t/>
            </a:r>
            <a:endParaRPr b="1" sz="8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t/>
            </a:r>
            <a:endParaRPr b="1" sz="8000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48500" y="4466975"/>
            <a:ext cx="29704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&lt;Author (s)&gt;</a:t>
            </a:r>
            <a:endParaRPr sz="41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2000" y="15264000"/>
            <a:ext cx="11352600" cy="985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5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Approach</a:t>
            </a:r>
            <a:endParaRPr b="1" sz="5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1880000" y="6602400"/>
            <a:ext cx="18073200" cy="837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000" y="-18000"/>
            <a:ext cx="30312001" cy="2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11880000" y="6602825"/>
            <a:ext cx="18073200" cy="985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Motivation &amp; Problem Setting</a:t>
            </a:r>
            <a:endParaRPr b="1" sz="5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52000" y="32022200"/>
            <a:ext cx="11354400" cy="1018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2000" y="32022200"/>
            <a:ext cx="11352600" cy="985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Works</a:t>
            </a:r>
            <a:endParaRPr b="1" sz="52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40000" y="32986772"/>
            <a:ext cx="1098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5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BM Plex Sans"/>
              <a:buChar char="●"/>
            </a:pPr>
            <a:r>
              <a:rPr lang="de" sz="4200">
                <a:latin typeface="IBM Plex Sans"/>
                <a:ea typeface="IBM Plex Sans"/>
                <a:cs typeface="IBM Plex Sans"/>
                <a:sym typeface="IBM Plex Sans"/>
              </a:rPr>
              <a:t>Future Work</a:t>
            </a:r>
            <a:endParaRPr sz="4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1880000" y="15264000"/>
            <a:ext cx="18073200" cy="985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Insights</a:t>
            </a:r>
            <a:endParaRPr b="1" sz="5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21175" y="6608313"/>
            <a:ext cx="1060500" cy="9390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252000" y="6602400"/>
            <a:ext cx="11342700" cy="839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52000" y="6602400"/>
            <a:ext cx="11342700" cy="985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TL;DR</a:t>
            </a:r>
            <a:endParaRPr b="1" sz="52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40000" y="8042400"/>
            <a:ext cx="8613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Summary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432000" y="67068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2378600" y="8042400"/>
            <a:ext cx="8613900" cy="23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300">
                <a:latin typeface="IBM Plex Sans"/>
                <a:ea typeface="IBM Plex Sans"/>
                <a:cs typeface="IBM Plex Sans"/>
                <a:sym typeface="IBM Plex Sans"/>
              </a:rPr>
              <a:t>Motivation</a:t>
            </a:r>
            <a:endParaRPr sz="43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76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Motivation</a:t>
            </a:r>
            <a:r>
              <a:rPr lang="de" sz="4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1</a:t>
            </a:r>
            <a:r>
              <a:rPr lang="de" sz="39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de" sz="3400">
                <a:solidFill>
                  <a:srgbClr val="9E9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[Lastname et al. 2020]</a:t>
            </a:r>
            <a:endParaRPr sz="3400">
              <a:solidFill>
                <a:srgbClr val="9E9E9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Motivation 2</a:t>
            </a:r>
            <a:endParaRPr sz="3300">
              <a:solidFill>
                <a:srgbClr val="9E9E9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40000" y="16704000"/>
            <a:ext cx="107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1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Approach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12060000" y="153720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12060000" y="67068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432000" y="153720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432000" y="32124200"/>
            <a:ext cx="782400" cy="7812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 sz="4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12168000" y="16704000"/>
            <a:ext cx="17530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1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Key Insight</a:t>
            </a:r>
            <a:endParaRPr sz="4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1670100" y="8042400"/>
            <a:ext cx="7914600" cy="1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300">
                <a:latin typeface="IBM Plex Sans"/>
                <a:ea typeface="IBM Plex Sans"/>
                <a:cs typeface="IBM Plex Sans"/>
                <a:sym typeface="IBM Plex Sans"/>
              </a:rPr>
              <a:t>Problem Setting</a:t>
            </a:r>
            <a:br>
              <a:rPr b="1" lang="de" sz="4300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de" sz="4300">
                <a:latin typeface="IBM Plex Sans"/>
                <a:ea typeface="IBM Plex Sans"/>
                <a:cs typeface="IBM Plex Sans"/>
                <a:sym typeface="IBM Plex Sans"/>
              </a:rPr>
              <a:t>Problem Setting</a:t>
            </a:r>
            <a:endParaRPr sz="4300"/>
          </a:p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000" y="5985975"/>
            <a:ext cx="30312001" cy="2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" y="42553175"/>
            <a:ext cx="30276000" cy="2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17600" y="686825"/>
            <a:ext cx="7378207" cy="21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33113" y="687600"/>
            <a:ext cx="1538712" cy="21276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285600" y="5153150"/>
            <a:ext cx="29704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100">
                <a:solidFill>
                  <a:srgbClr val="9E9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Poster Presentations in context of “TODO” Lecture </a:t>
            </a:r>
            <a:endParaRPr b="1" sz="4100">
              <a:solidFill>
                <a:srgbClr val="9E9E9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