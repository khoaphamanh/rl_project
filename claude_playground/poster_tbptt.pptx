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0275213" cy="42803763"/>
  <p:notesSz cx="6858000" cy="9144000"/>
  <p:embeddedFontLst>
    <p:embeddedFont>
      <p:font typeface="IBM Plex Mono" panose="020B0509050203000203" pitchFamily="49" charset="77"/>
      <p:regular r:id="rId4"/>
      <p:bold r:id="rId5"/>
      <p:italic r:id="rId6"/>
      <p:boldItalic r:id="rId7"/>
    </p:embeddedFont>
    <p:embeddedFont>
      <p:font typeface="IBM Plex Sans" panose="020B0503050203000203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327"/>
  </p:normalViewPr>
  <p:slideViewPr>
    <p:cSldViewPr snapToGrid="0">
      <p:cViewPr>
        <p:scale>
          <a:sx n="60" d="100"/>
          <a:sy n="60" d="100"/>
        </p:scale>
        <p:origin x="1624" y="152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6650" y="685800"/>
            <a:ext cx="2425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f0b5ab66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f0b5ab663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032046" y="4623681"/>
            <a:ext cx="9297300" cy="62892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032046" y="11564195"/>
            <a:ext cx="9297300" cy="26459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879077" y="23327077"/>
            <a:ext cx="13393800" cy="102783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032046" y="9205128"/>
            <a:ext cx="28212000" cy="16340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032046" y="26232690"/>
            <a:ext cx="28212000" cy="1082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marL="914400" lvl="1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2pPr>
            <a:lvl3pPr marL="1371600" lvl="2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3pPr>
            <a:lvl4pPr marL="1828800" lvl="3" indent="-70485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4pPr>
            <a:lvl5pPr marL="2286000" lvl="4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5pPr>
            <a:lvl6pPr marL="2743200" lvl="5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6pPr>
            <a:lvl7pPr marL="3200400" lvl="6" indent="-704850" algn="ctr">
              <a:spcBef>
                <a:spcPts val="0"/>
              </a:spcBef>
              <a:spcAft>
                <a:spcPts val="0"/>
              </a:spcAft>
              <a:buSzPts val="7500"/>
              <a:buChar char="●"/>
              <a:defRPr/>
            </a:lvl7pPr>
            <a:lvl8pPr marL="3657600" lvl="7" indent="-704850" algn="ctr">
              <a:spcBef>
                <a:spcPts val="0"/>
              </a:spcBef>
              <a:spcAft>
                <a:spcPts val="0"/>
              </a:spcAft>
              <a:buSzPts val="7500"/>
              <a:buChar char="○"/>
              <a:defRPr/>
            </a:lvl8pPr>
            <a:lvl9pPr marL="4114800" lvl="8" indent="-704850" algn="ctr">
              <a:spcBef>
                <a:spcPts val="0"/>
              </a:spcBef>
              <a:spcAft>
                <a:spcPts val="0"/>
              </a:spcAft>
              <a:buSzPts val="75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marL="1371600" lvl="2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marL="1828800" lvl="3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marL="2286000" lvl="4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marL="2743200" lvl="5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marL="3200400" lvl="6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marL="3657600" lvl="7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marL="4114800" lvl="8" indent="-704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000" y="-18000"/>
            <a:ext cx="30312001" cy="2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000" y="5985975"/>
            <a:ext cx="30312001" cy="2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" y="42553175"/>
            <a:ext cx="30276000" cy="2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17600" y="686825"/>
            <a:ext cx="7378207" cy="21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33113" y="687600"/>
            <a:ext cx="1538712" cy="21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Picture 84" descr="qr_re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4920" y="3127248"/>
            <a:ext cx="2103120" cy="2103120"/>
          </a:xfrm>
          <a:prstGeom prst="rect">
            <a:avLst/>
          </a:prstGeom>
        </p:spPr>
      </p:pic>
      <p:sp>
        <p:nvSpPr>
          <p:cNvPr id="901" name="Title"/>
          <p:cNvSpPr txBox="1"/>
          <p:nvPr/>
        </p:nvSpPr>
        <p:spPr>
          <a:xfrm>
            <a:off x="274320" y="1170432"/>
            <a:ext cx="20482560" cy="25359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</a:pPr>
            <a:r>
              <a:rPr sz="8000" b="1" dirty="0">
                <a:solidFill>
                  <a:srgbClr val="202124"/>
                </a:solidFill>
                <a:latin typeface="IBM Plex Sans"/>
              </a:rPr>
              <a:t>Memory Reach: GRU vs MLP under PPO on </a:t>
            </a:r>
            <a:r>
              <a:rPr sz="8000" b="1" dirty="0" err="1">
                <a:solidFill>
                  <a:srgbClr val="202124"/>
                </a:solidFill>
                <a:latin typeface="IBM Plex Sans"/>
              </a:rPr>
              <a:t>MiniGrid</a:t>
            </a:r>
            <a:r>
              <a:rPr sz="8000" b="1" dirty="0">
                <a:solidFill>
                  <a:srgbClr val="202124"/>
                </a:solidFill>
                <a:latin typeface="IBM Plex Sans"/>
              </a:rPr>
              <a:t> Memory</a:t>
            </a:r>
          </a:p>
        </p:txBody>
      </p:sp>
      <p:sp>
        <p:nvSpPr>
          <p:cNvPr id="902" name="Author"/>
          <p:cNvSpPr txBox="1"/>
          <p:nvPr/>
        </p:nvSpPr>
        <p:spPr>
          <a:xfrm>
            <a:off x="292608" y="4017264"/>
            <a:ext cx="20482560" cy="7099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300" b="1">
                <a:solidFill>
                  <a:srgbClr val="202124"/>
                </a:solidFill>
                <a:latin typeface="IBM Plex Sans"/>
              </a:rPr>
              <a:t>Anh Khoa Pham</a:t>
            </a:r>
          </a:p>
        </p:txBody>
      </p:sp>
      <p:sp>
        <p:nvSpPr>
          <p:cNvPr id="903" name="QRCaption"/>
          <p:cNvSpPr txBox="1"/>
          <p:nvPr/>
        </p:nvSpPr>
        <p:spPr>
          <a:xfrm>
            <a:off x="23993856" y="3710665"/>
            <a:ext cx="3575304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6000"/>
              </a:lnSpc>
            </a:pPr>
            <a:r>
              <a:rPr sz="2700" b="0" dirty="0">
                <a:solidFill>
                  <a:srgbClr val="5F6368"/>
                </a:solidFill>
                <a:latin typeface="IBM Plex Sans"/>
              </a:rPr>
              <a:t>Code, studies and</a:t>
            </a:r>
          </a:p>
          <a:p>
            <a:pPr algn="r">
              <a:lnSpc>
                <a:spcPct val="106000"/>
              </a:lnSpc>
            </a:pPr>
            <a:r>
              <a:rPr sz="2700" b="0" dirty="0">
                <a:solidFill>
                  <a:srgbClr val="5F6368"/>
                </a:solidFill>
                <a:latin typeface="IBM Plex Sans"/>
              </a:rPr>
              <a:t>winning checkpoints</a:t>
            </a:r>
          </a:p>
        </p:txBody>
      </p:sp>
      <p:sp>
        <p:nvSpPr>
          <p:cNvPr id="904" name="Rect"/>
          <p:cNvSpPr/>
          <p:nvPr/>
        </p:nvSpPr>
        <p:spPr>
          <a:xfrm>
            <a:off x="256032" y="6327648"/>
            <a:ext cx="12024360" cy="7958328"/>
          </a:xfrm>
          <a:prstGeom prst="rect">
            <a:avLst/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05" name="Rect"/>
          <p:cNvSpPr/>
          <p:nvPr/>
        </p:nvSpPr>
        <p:spPr>
          <a:xfrm>
            <a:off x="256032" y="6327648"/>
            <a:ext cx="12024360" cy="1078992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06" name="Rect"/>
          <p:cNvSpPr/>
          <p:nvPr/>
        </p:nvSpPr>
        <p:spPr>
          <a:xfrm>
            <a:off x="429768" y="6446520"/>
            <a:ext cx="841248" cy="841248"/>
          </a:xfrm>
          <a:prstGeom prst="rect">
            <a:avLst/>
          </a:prstGeom>
          <a:solidFill>
            <a:srgbClr val="F3F3F3"/>
          </a:solidFill>
          <a:ln w="19050">
            <a:solidFill>
              <a:srgbClr val="F3F3F3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07" name="TextBox"/>
          <p:cNvSpPr txBox="1"/>
          <p:nvPr/>
        </p:nvSpPr>
        <p:spPr>
          <a:xfrm>
            <a:off x="429768" y="65288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4600" b="0">
                <a:solidFill>
                  <a:srgbClr val="0B5394"/>
                </a:solidFill>
                <a:latin typeface="IBM Plex Sans"/>
              </a:rPr>
              <a:t>1</a:t>
            </a:r>
          </a:p>
        </p:txBody>
      </p:sp>
      <p:sp>
        <p:nvSpPr>
          <p:cNvPr id="908" name="TextBox"/>
          <p:cNvSpPr txBox="1"/>
          <p:nvPr/>
        </p:nvSpPr>
        <p:spPr>
          <a:xfrm>
            <a:off x="1691640" y="6419596"/>
            <a:ext cx="10378440" cy="858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BM Plex Sans"/>
              </a:rPr>
              <a:t>Motivation</a:t>
            </a:r>
          </a:p>
        </p:txBody>
      </p:sp>
      <p:sp>
        <p:nvSpPr>
          <p:cNvPr id="909" name="TextBox"/>
          <p:cNvSpPr txBox="1"/>
          <p:nvPr/>
        </p:nvSpPr>
        <p:spPr>
          <a:xfrm>
            <a:off x="548640" y="7680960"/>
            <a:ext cx="11439144" cy="337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10896" indent="-310896" algn="l">
              <a:lnSpc>
                <a:spcPct val="100000"/>
              </a:lnSpc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POMDP: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only a 7 × 7 view is seen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Memory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must live in a state </a:t>
            </a:r>
            <a:r>
              <a:rPr sz="4300" b="0" dirty="0">
                <a:solidFill>
                  <a:srgbClr val="202124"/>
                </a:solidFill>
                <a:latin typeface="IBM Plex Mono"/>
              </a:rPr>
              <a:t>h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Full BPTT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costs memory ∝ length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Truncation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cuts gradients to </a:t>
            </a:r>
            <a:r>
              <a:rPr sz="4300" b="0" dirty="0">
                <a:solidFill>
                  <a:srgbClr val="202124"/>
                </a:solidFill>
                <a:latin typeface="IBM Plex Mono"/>
              </a:rPr>
              <a:t>L</a:t>
            </a:r>
          </a:p>
        </p:txBody>
      </p:sp>
      <p:sp>
        <p:nvSpPr>
          <p:cNvPr id="910" name="Rect"/>
          <p:cNvSpPr/>
          <p:nvPr/>
        </p:nvSpPr>
        <p:spPr>
          <a:xfrm>
            <a:off x="548640" y="11310112"/>
            <a:ext cx="11439144" cy="1895348"/>
          </a:xfrm>
          <a:prstGeom prst="rect">
            <a:avLst/>
          </a:prstGeom>
          <a:solidFill>
            <a:srgbClr val="EEF3FA"/>
          </a:solidFill>
          <a:ln w="19050">
            <a:solidFill>
              <a:srgbClr val="EEF3FA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11" name="TextBox"/>
          <p:cNvSpPr txBox="1"/>
          <p:nvPr/>
        </p:nvSpPr>
        <p:spPr>
          <a:xfrm>
            <a:off x="786384" y="11547856"/>
            <a:ext cx="10963656" cy="14198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300" b="1" dirty="0">
                <a:solidFill>
                  <a:srgbClr val="0B5394"/>
                </a:solidFill>
                <a:latin typeface="IBM Plex Sans"/>
              </a:rPr>
              <a:t>Core question:</a:t>
            </a:r>
            <a:r>
              <a:rPr sz="4300" b="0" dirty="0">
                <a:solidFill>
                  <a:srgbClr val="0B5394"/>
                </a:solidFill>
                <a:latin typeface="IBM Plex Sans"/>
              </a:rPr>
              <a:t> how far back must the gradient reach, and what does that reach cost?</a:t>
            </a:r>
          </a:p>
        </p:txBody>
      </p:sp>
      <p:sp>
        <p:nvSpPr>
          <p:cNvPr id="912" name="TextBox"/>
          <p:cNvSpPr txBox="1"/>
          <p:nvPr/>
        </p:nvSpPr>
        <p:spPr>
          <a:xfrm>
            <a:off x="548640" y="13461492"/>
            <a:ext cx="11439144" cy="495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 dirty="0">
                <a:solidFill>
                  <a:srgbClr val="5F6368"/>
                </a:solidFill>
                <a:latin typeface="IBM Plex Sans"/>
              </a:rPr>
              <a:t>250 runs · ≈ 2</a:t>
            </a:r>
            <a:r>
              <a:rPr lang="de-DE" sz="3000" b="0" dirty="0">
                <a:solidFill>
                  <a:srgbClr val="5F6368"/>
                </a:solidFill>
                <a:latin typeface="IBM Plex Sans"/>
              </a:rPr>
              <a:t>50</a:t>
            </a:r>
            <a:r>
              <a:rPr sz="3000" b="0" dirty="0">
                <a:solidFill>
                  <a:srgbClr val="5F6368"/>
                </a:solidFill>
                <a:latin typeface="IBM Plex Sans"/>
              </a:rPr>
              <a:t> GPU-hours · RTX 3060 12 GB</a:t>
            </a:r>
            <a:r>
              <a:rPr lang="de-DE" sz="3000" b="0" dirty="0">
                <a:solidFill>
                  <a:srgbClr val="5F6368"/>
                </a:solidFill>
                <a:latin typeface="IBM Plex Sans"/>
              </a:rPr>
              <a:t> </a:t>
            </a:r>
            <a:r>
              <a:rPr lang="en-DE" sz="3000" b="0" dirty="0">
                <a:solidFill>
                  <a:srgbClr val="5F6368"/>
                </a:solidFill>
                <a:latin typeface="IBM Plex Sans"/>
              </a:rPr>
              <a:t>· 16 CPUs</a:t>
            </a:r>
            <a:r>
              <a:rPr lang="de-DE" sz="3000" b="0" dirty="0">
                <a:solidFill>
                  <a:srgbClr val="5F6368"/>
                </a:solidFill>
                <a:latin typeface="IBM Plex Sans"/>
              </a:rPr>
              <a:t> </a:t>
            </a:r>
            <a:endParaRPr sz="3000" b="0" dirty="0">
              <a:solidFill>
                <a:srgbClr val="5F6368"/>
              </a:solidFill>
              <a:latin typeface="IBM Plex Sans"/>
            </a:endParaRPr>
          </a:p>
        </p:txBody>
      </p:sp>
      <p:sp>
        <p:nvSpPr>
          <p:cNvPr id="913" name="Rect"/>
          <p:cNvSpPr/>
          <p:nvPr/>
        </p:nvSpPr>
        <p:spPr>
          <a:xfrm>
            <a:off x="256032" y="14582472"/>
            <a:ext cx="12024360" cy="16929852"/>
          </a:xfrm>
          <a:prstGeom prst="rect">
            <a:avLst/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14" name="Rect"/>
          <p:cNvSpPr/>
          <p:nvPr/>
        </p:nvSpPr>
        <p:spPr>
          <a:xfrm>
            <a:off x="256032" y="14582472"/>
            <a:ext cx="12024360" cy="1078992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15" name="Rect"/>
          <p:cNvSpPr/>
          <p:nvPr/>
        </p:nvSpPr>
        <p:spPr>
          <a:xfrm>
            <a:off x="429768" y="14701344"/>
            <a:ext cx="841248" cy="841248"/>
          </a:xfrm>
          <a:prstGeom prst="rect">
            <a:avLst/>
          </a:prstGeom>
          <a:solidFill>
            <a:srgbClr val="F3F3F3"/>
          </a:solidFill>
          <a:ln w="19050">
            <a:solidFill>
              <a:srgbClr val="F3F3F3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16" name="TextBox"/>
          <p:cNvSpPr txBox="1"/>
          <p:nvPr/>
        </p:nvSpPr>
        <p:spPr>
          <a:xfrm>
            <a:off x="429768" y="14783640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4600" b="0">
                <a:solidFill>
                  <a:srgbClr val="0B5394"/>
                </a:solidFill>
                <a:latin typeface="IBM Plex Sans"/>
              </a:rPr>
              <a:t>2</a:t>
            </a:r>
          </a:p>
        </p:txBody>
      </p:sp>
      <p:sp>
        <p:nvSpPr>
          <p:cNvPr id="917" name="TextBox"/>
          <p:cNvSpPr txBox="1"/>
          <p:nvPr/>
        </p:nvSpPr>
        <p:spPr>
          <a:xfrm>
            <a:off x="1691640" y="14674420"/>
            <a:ext cx="10378440" cy="858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BM Plex Sans"/>
              </a:rPr>
              <a:t>Problem Setting</a:t>
            </a:r>
          </a:p>
        </p:txBody>
      </p:sp>
      <p:sp>
        <p:nvSpPr>
          <p:cNvPr id="918" name="TextBox"/>
          <p:cNvSpPr txBox="1"/>
          <p:nvPr/>
        </p:nvSpPr>
        <p:spPr>
          <a:xfrm>
            <a:off x="548640" y="15935784"/>
            <a:ext cx="11439144" cy="7099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300" b="0">
                <a:solidFill>
                  <a:srgbClr val="0B5394"/>
                </a:solidFill>
                <a:latin typeface="IBM Plex Sans"/>
              </a:rPr>
              <a:t>The environment</a:t>
            </a:r>
          </a:p>
        </p:txBody>
      </p:sp>
      <p:sp>
        <p:nvSpPr>
          <p:cNvPr id="919" name="TextBox"/>
          <p:cNvSpPr txBox="1"/>
          <p:nvPr/>
        </p:nvSpPr>
        <p:spPr>
          <a:xfrm>
            <a:off x="548640" y="16746298"/>
            <a:ext cx="11439144" cy="51485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10896" indent="-310896" algn="l">
              <a:lnSpc>
                <a:spcPct val="100000"/>
              </a:lnSpc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0" dirty="0">
                <a:solidFill>
                  <a:srgbClr val="202124"/>
                </a:solidFill>
                <a:latin typeface="IBM Plex Mono"/>
              </a:rPr>
              <a:t>MiniGrid-MemoryS17Random-v0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Cue (key or ball) in the west room</a:t>
            </a:r>
            <a:endParaRPr lang="de-DE" sz="4300" b="0" dirty="0">
              <a:solidFill>
                <a:srgbClr val="202124"/>
              </a:solidFill>
              <a:latin typeface="IBM Plex Sans"/>
            </a:endParaRPr>
          </a:p>
          <a:p>
            <a:pPr marL="310896" indent="-310896">
              <a:spcBef>
                <a:spcPts val="1400"/>
              </a:spcBef>
            </a:pPr>
            <a:r>
              <a:rPr lang="en-GB" sz="4300" b="0" dirty="0">
                <a:solidFill>
                  <a:srgbClr val="202124"/>
                </a:solidFill>
                <a:latin typeface="IBM Plex Sans"/>
              </a:rPr>
              <a:t>• Agent spawns facing away from it</a:t>
            </a:r>
            <a:endParaRPr sz="4300" b="0" dirty="0">
              <a:solidFill>
                <a:srgbClr val="202124"/>
              </a:solidFill>
              <a:latin typeface="IBM Plex Sans"/>
            </a:endParaRP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T-junction at the far east end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Only the matching prong pays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Reward 1 − 0.9 · steps / </a:t>
            </a:r>
            <a:r>
              <a:rPr sz="4300" b="0" dirty="0" err="1">
                <a:solidFill>
                  <a:srgbClr val="202124"/>
                </a:solidFill>
                <a:latin typeface="IBM Plex Sans"/>
              </a:rPr>
              <a:t>max_steps</a:t>
            </a:r>
            <a:endParaRPr sz="4300" b="0" dirty="0">
              <a:solidFill>
                <a:srgbClr val="202124"/>
              </a:solidFill>
              <a:latin typeface="IBM Plex Sans"/>
            </a:endParaRPr>
          </a:p>
        </p:txBody>
      </p:sp>
      <p:sp>
        <p:nvSpPr>
          <p:cNvPr id="920" name="TextBox"/>
          <p:cNvSpPr txBox="1"/>
          <p:nvPr/>
        </p:nvSpPr>
        <p:spPr>
          <a:xfrm>
            <a:off x="548640" y="22150910"/>
            <a:ext cx="11439144" cy="7099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300" b="0">
                <a:solidFill>
                  <a:srgbClr val="0B5394"/>
                </a:solidFill>
                <a:latin typeface="IBM Plex Sans"/>
              </a:rPr>
              <a:t>The two encoders</a:t>
            </a:r>
          </a:p>
        </p:txBody>
      </p:sp>
      <p:sp>
        <p:nvSpPr>
          <p:cNvPr id="921" name="TextBox"/>
          <p:cNvSpPr txBox="1"/>
          <p:nvPr/>
        </p:nvSpPr>
        <p:spPr>
          <a:xfrm>
            <a:off x="548640" y="22961424"/>
            <a:ext cx="11439144" cy="15976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10896" indent="-310896" algn="l">
              <a:lnSpc>
                <a:spcPct val="100000"/>
              </a:lnSpc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MLP:</a:t>
            </a:r>
            <a:r>
              <a:rPr lang="en-GB" sz="4300" b="0" dirty="0">
                <a:solidFill>
                  <a:srgbClr val="202124"/>
                </a:solidFill>
                <a:latin typeface="IBM Plex Sans"/>
              </a:rPr>
              <a:t> linear layers with </a:t>
            </a:r>
            <a:r>
              <a:rPr lang="en-GB" sz="4300" b="0" dirty="0" err="1">
                <a:solidFill>
                  <a:srgbClr val="202124"/>
                </a:solidFill>
                <a:latin typeface="IBM Plex Sans"/>
              </a:rPr>
              <a:t>ReLU</a:t>
            </a:r>
            <a:r>
              <a:rPr lang="en-GB" sz="4300" b="0" dirty="0">
                <a:solidFill>
                  <a:srgbClr val="202124"/>
                </a:solidFill>
                <a:latin typeface="IBM Plex Sans"/>
              </a:rPr>
              <a:t>, memory less</a:t>
            </a:r>
            <a:endParaRPr sz="4300" b="0" dirty="0">
              <a:solidFill>
                <a:srgbClr val="202124"/>
              </a:solidFill>
              <a:latin typeface="IBM Plex Sans"/>
            </a:endParaRP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GRU: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carries </a:t>
            </a:r>
            <a:r>
              <a:rPr sz="4300" b="0" dirty="0">
                <a:solidFill>
                  <a:srgbClr val="202124"/>
                </a:solidFill>
                <a:latin typeface="IBM Plex Mono"/>
              </a:rPr>
              <a:t>h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, </a:t>
            </a:r>
            <a:r>
              <a:rPr lang="de-DE" sz="4300" dirty="0" err="1">
                <a:solidFill>
                  <a:srgbClr val="202124"/>
                </a:solidFill>
                <a:latin typeface="IBM Plex Sans"/>
              </a:rPr>
              <a:t>with</a:t>
            </a:r>
            <a:r>
              <a:rPr lang="de-DE" sz="4300" dirty="0">
                <a:solidFill>
                  <a:srgbClr val="202124"/>
                </a:solidFill>
                <a:latin typeface="IBM Plex Sans"/>
              </a:rPr>
              <a:t> </a:t>
            </a:r>
            <a:r>
              <a:rPr lang="de-DE" sz="4300" dirty="0" err="1">
                <a:solidFill>
                  <a:srgbClr val="202124"/>
                </a:solidFill>
                <a:latin typeface="IBM Plex Sans"/>
              </a:rPr>
              <a:t>memory</a:t>
            </a:r>
            <a:endParaRPr sz="4300" b="0" dirty="0">
              <a:solidFill>
                <a:srgbClr val="202124"/>
              </a:solidFill>
              <a:latin typeface="IBM Plex Mono"/>
            </a:endParaRPr>
          </a:p>
        </p:txBody>
      </p:sp>
      <p:sp>
        <p:nvSpPr>
          <p:cNvPr id="922" name="TextBox"/>
          <p:cNvSpPr txBox="1"/>
          <p:nvPr/>
        </p:nvSpPr>
        <p:spPr>
          <a:xfrm>
            <a:off x="548640" y="30687840"/>
            <a:ext cx="11439144" cy="495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 dirty="0">
                <a:solidFill>
                  <a:srgbClr val="5F6368"/>
                </a:solidFill>
                <a:latin typeface="IBM Plex Sans"/>
              </a:rPr>
              <a:t>Left: the maze. Right: everything the agent sees.</a:t>
            </a:r>
          </a:p>
        </p:txBody>
      </p:sp>
      <p:sp>
        <p:nvSpPr>
          <p:cNvPr id="923" name="Rect"/>
          <p:cNvSpPr/>
          <p:nvPr/>
        </p:nvSpPr>
        <p:spPr>
          <a:xfrm>
            <a:off x="12563856" y="6327648"/>
            <a:ext cx="17455896" cy="15388922"/>
          </a:xfrm>
          <a:prstGeom prst="rect">
            <a:avLst/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24" name="Rect"/>
          <p:cNvSpPr/>
          <p:nvPr/>
        </p:nvSpPr>
        <p:spPr>
          <a:xfrm>
            <a:off x="12563856" y="6327648"/>
            <a:ext cx="17455896" cy="1078992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25" name="Rect"/>
          <p:cNvSpPr/>
          <p:nvPr/>
        </p:nvSpPr>
        <p:spPr>
          <a:xfrm>
            <a:off x="12737592" y="6446520"/>
            <a:ext cx="841248" cy="841248"/>
          </a:xfrm>
          <a:prstGeom prst="rect">
            <a:avLst/>
          </a:prstGeom>
          <a:solidFill>
            <a:srgbClr val="F3F3F3"/>
          </a:solidFill>
          <a:ln w="19050">
            <a:solidFill>
              <a:srgbClr val="F3F3F3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26" name="TextBox"/>
          <p:cNvSpPr txBox="1"/>
          <p:nvPr/>
        </p:nvSpPr>
        <p:spPr>
          <a:xfrm>
            <a:off x="12737592" y="6528816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4600" b="0">
                <a:solidFill>
                  <a:srgbClr val="0B5394"/>
                </a:solidFill>
                <a:latin typeface="IBM Plex Sans"/>
              </a:rPr>
              <a:t>3</a:t>
            </a:r>
          </a:p>
        </p:txBody>
      </p:sp>
      <p:sp>
        <p:nvSpPr>
          <p:cNvPr id="927" name="TextBox"/>
          <p:cNvSpPr txBox="1"/>
          <p:nvPr/>
        </p:nvSpPr>
        <p:spPr>
          <a:xfrm>
            <a:off x="13999464" y="6419596"/>
            <a:ext cx="15809976" cy="858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BM Plex Sans"/>
              </a:rPr>
              <a:t>Approach</a:t>
            </a:r>
          </a:p>
        </p:txBody>
      </p:sp>
      <p:sp>
        <p:nvSpPr>
          <p:cNvPr id="928" name="TextBox"/>
          <p:cNvSpPr txBox="1"/>
          <p:nvPr/>
        </p:nvSpPr>
        <p:spPr>
          <a:xfrm>
            <a:off x="12856464" y="7680960"/>
            <a:ext cx="16870680" cy="7099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300" b="0">
                <a:solidFill>
                  <a:srgbClr val="0B5394"/>
                </a:solidFill>
                <a:latin typeface="IBM Plex Sans"/>
              </a:rPr>
              <a:t>Network</a:t>
            </a:r>
          </a:p>
        </p:txBody>
      </p:sp>
      <p:sp>
        <p:nvSpPr>
          <p:cNvPr id="929" name="TextBox"/>
          <p:cNvSpPr txBox="1"/>
          <p:nvPr/>
        </p:nvSpPr>
        <p:spPr>
          <a:xfrm>
            <a:off x="12856464" y="12516182"/>
            <a:ext cx="16870680" cy="7099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300" b="0" dirty="0">
                <a:solidFill>
                  <a:srgbClr val="0B5394"/>
                </a:solidFill>
                <a:latin typeface="IBM Plex Sans"/>
              </a:rPr>
              <a:t>PPO objective</a:t>
            </a:r>
          </a:p>
        </p:txBody>
      </p:sp>
      <p:sp>
        <p:nvSpPr>
          <p:cNvPr id="930" name="Rect"/>
          <p:cNvSpPr/>
          <p:nvPr/>
        </p:nvSpPr>
        <p:spPr>
          <a:xfrm>
            <a:off x="12856464" y="13326696"/>
            <a:ext cx="16870680" cy="3630168"/>
          </a:xfrm>
          <a:prstGeom prst="rect">
            <a:avLst/>
          </a:prstGeom>
          <a:solidFill>
            <a:srgbClr val="F7F9FC"/>
          </a:solidFill>
          <a:ln w="15875">
            <a:solidFill>
              <a:srgbClr val="D6E0EC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33" name="TextBox"/>
          <p:cNvSpPr txBox="1"/>
          <p:nvPr/>
        </p:nvSpPr>
        <p:spPr>
          <a:xfrm>
            <a:off x="12856464" y="17203752"/>
            <a:ext cx="16870680" cy="70993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4300" b="0">
                <a:solidFill>
                  <a:srgbClr val="0B5394"/>
                </a:solidFill>
                <a:latin typeface="IBM Plex Sans"/>
              </a:rPr>
              <a:t>Hyperparameter Optimization</a:t>
            </a:r>
          </a:p>
        </p:txBody>
      </p:sp>
      <p:sp>
        <p:nvSpPr>
          <p:cNvPr id="934" name="TextBox"/>
          <p:cNvSpPr txBox="1"/>
          <p:nvPr/>
        </p:nvSpPr>
        <p:spPr>
          <a:xfrm>
            <a:off x="12856464" y="18014266"/>
            <a:ext cx="16870680" cy="337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10896" indent="-310896" algn="l">
              <a:lnSpc>
                <a:spcPct val="100000"/>
              </a:lnSpc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Surrogate model: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</a:t>
            </a:r>
            <a:r>
              <a:rPr sz="4300" b="0" dirty="0" err="1">
                <a:solidFill>
                  <a:srgbClr val="202124"/>
                </a:solidFill>
                <a:latin typeface="IBM Plex Sans"/>
              </a:rPr>
              <a:t>Optuna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TPE sampler, seeded at 42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Budget: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50 trials per arm × 5 arms = 250 training runs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Seeds per trial: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5, each 1000 iterations</a:t>
            </a:r>
          </a:p>
          <a:p>
            <a:pPr marL="310896" indent="-310896" algn="l">
              <a:lnSpc>
                <a:spcPct val="100000"/>
              </a:lnSpc>
              <a:spcBef>
                <a:spcPts val="1400"/>
              </a:spcBef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Objective: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 mean − std of return over the 5 seeds</a:t>
            </a:r>
          </a:p>
        </p:txBody>
      </p:sp>
      <p:sp>
        <p:nvSpPr>
          <p:cNvPr id="935" name="Rect"/>
          <p:cNvSpPr/>
          <p:nvPr/>
        </p:nvSpPr>
        <p:spPr>
          <a:xfrm>
            <a:off x="12563856" y="22030983"/>
            <a:ext cx="17455896" cy="11623548"/>
          </a:xfrm>
          <a:prstGeom prst="rect">
            <a:avLst/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36" name="Rect"/>
          <p:cNvSpPr/>
          <p:nvPr/>
        </p:nvSpPr>
        <p:spPr>
          <a:xfrm>
            <a:off x="12563856" y="22030983"/>
            <a:ext cx="17455896" cy="1078992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37" name="Rect"/>
          <p:cNvSpPr/>
          <p:nvPr/>
        </p:nvSpPr>
        <p:spPr>
          <a:xfrm>
            <a:off x="12737592" y="22149855"/>
            <a:ext cx="841248" cy="841248"/>
          </a:xfrm>
          <a:prstGeom prst="rect">
            <a:avLst/>
          </a:prstGeom>
          <a:solidFill>
            <a:srgbClr val="F3F3F3"/>
          </a:solidFill>
          <a:ln w="19050">
            <a:solidFill>
              <a:srgbClr val="F3F3F3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38" name="TextBox"/>
          <p:cNvSpPr txBox="1"/>
          <p:nvPr/>
        </p:nvSpPr>
        <p:spPr>
          <a:xfrm>
            <a:off x="12737592" y="22232151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4600" b="0">
                <a:solidFill>
                  <a:srgbClr val="0B5394"/>
                </a:solidFill>
                <a:latin typeface="IBM Plex Sans"/>
              </a:rPr>
              <a:t>4</a:t>
            </a:r>
          </a:p>
        </p:txBody>
      </p:sp>
      <p:sp>
        <p:nvSpPr>
          <p:cNvPr id="939" name="TextBox"/>
          <p:cNvSpPr txBox="1"/>
          <p:nvPr/>
        </p:nvSpPr>
        <p:spPr>
          <a:xfrm>
            <a:off x="13999464" y="22122931"/>
            <a:ext cx="15809976" cy="858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BM Plex Sans"/>
              </a:rPr>
              <a:t>Results</a:t>
            </a:r>
          </a:p>
        </p:txBody>
      </p:sp>
      <p:sp>
        <p:nvSpPr>
          <p:cNvPr id="940" name="Rect"/>
          <p:cNvSpPr/>
          <p:nvPr/>
        </p:nvSpPr>
        <p:spPr>
          <a:xfrm>
            <a:off x="12856464" y="23932935"/>
            <a:ext cx="16870680" cy="41148"/>
          </a:xfrm>
          <a:prstGeom prst="rect">
            <a:avLst/>
          </a:prstGeom>
          <a:solidFill>
            <a:srgbClr val="0B5394"/>
          </a:solidFill>
          <a:ln w="19050">
            <a:noFill/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41" name="Rect"/>
          <p:cNvSpPr/>
          <p:nvPr/>
        </p:nvSpPr>
        <p:spPr>
          <a:xfrm>
            <a:off x="12765024" y="25780023"/>
            <a:ext cx="17053560" cy="594360"/>
          </a:xfrm>
          <a:prstGeom prst="rect">
            <a:avLst/>
          </a:prstGeom>
          <a:solidFill>
            <a:srgbClr val="EEF3FA"/>
          </a:solidFill>
          <a:ln w="19050">
            <a:solidFill>
              <a:srgbClr val="EEF3FA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42" name="Rect"/>
          <p:cNvSpPr/>
          <p:nvPr/>
        </p:nvSpPr>
        <p:spPr>
          <a:xfrm>
            <a:off x="12765024" y="26374383"/>
            <a:ext cx="17053560" cy="594360"/>
          </a:xfrm>
          <a:prstGeom prst="rect">
            <a:avLst/>
          </a:prstGeom>
          <a:solidFill>
            <a:srgbClr val="EEF3FA"/>
          </a:solidFill>
          <a:ln w="19050">
            <a:solidFill>
              <a:srgbClr val="EEF3FA"/>
            </a:solidFill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43" name="Rect"/>
          <p:cNvSpPr/>
          <p:nvPr/>
        </p:nvSpPr>
        <p:spPr>
          <a:xfrm>
            <a:off x="12856464" y="26987031"/>
            <a:ext cx="16870680" cy="22860"/>
          </a:xfrm>
          <a:prstGeom prst="rect">
            <a:avLst/>
          </a:prstGeom>
          <a:solidFill>
            <a:srgbClr val="0B5394"/>
          </a:solidFill>
          <a:ln w="19050">
            <a:noFill/>
          </a:ln>
          <a:effectLst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944" name="TextBox"/>
          <p:cNvSpPr txBox="1"/>
          <p:nvPr/>
        </p:nvSpPr>
        <p:spPr>
          <a:xfrm>
            <a:off x="12856464" y="23439159"/>
            <a:ext cx="37929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B5394"/>
                </a:solidFill>
                <a:latin typeface="IBM Plex Sans"/>
              </a:rPr>
              <a:t>arm</a:t>
            </a:r>
          </a:p>
        </p:txBody>
      </p:sp>
      <p:sp>
        <p:nvSpPr>
          <p:cNvPr id="945" name="TextBox"/>
          <p:cNvSpPr txBox="1"/>
          <p:nvPr/>
        </p:nvSpPr>
        <p:spPr>
          <a:xfrm>
            <a:off x="16978548" y="2343915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0B5394"/>
                </a:solidFill>
                <a:latin typeface="IBM Plex Sans"/>
              </a:rPr>
              <a:t>return</a:t>
            </a:r>
          </a:p>
        </p:txBody>
      </p:sp>
      <p:sp>
        <p:nvSpPr>
          <p:cNvPr id="946" name="TextBox"/>
          <p:cNvSpPr txBox="1"/>
          <p:nvPr/>
        </p:nvSpPr>
        <p:spPr>
          <a:xfrm>
            <a:off x="20280015" y="2343915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0B5394"/>
                </a:solidFill>
                <a:latin typeface="IBM Plex Sans"/>
              </a:rPr>
              <a:t>success rate</a:t>
            </a:r>
          </a:p>
        </p:txBody>
      </p:sp>
      <p:sp>
        <p:nvSpPr>
          <p:cNvPr id="947" name="TextBox"/>
          <p:cNvSpPr txBox="1"/>
          <p:nvPr/>
        </p:nvSpPr>
        <p:spPr>
          <a:xfrm>
            <a:off x="23581483" y="23439159"/>
            <a:ext cx="228637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0B5394"/>
                </a:solidFill>
                <a:latin typeface="IBM Plex Sans"/>
              </a:rPr>
              <a:t>steps</a:t>
            </a:r>
          </a:p>
        </p:txBody>
      </p:sp>
      <p:sp>
        <p:nvSpPr>
          <p:cNvPr id="948" name="TextBox"/>
          <p:cNvSpPr txBox="1"/>
          <p:nvPr/>
        </p:nvSpPr>
        <p:spPr>
          <a:xfrm>
            <a:off x="26197039" y="23439159"/>
            <a:ext cx="2057735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0B5394"/>
                </a:solidFill>
                <a:latin typeface="IBM Plex Sans"/>
              </a:rPr>
              <a:t>minibatch</a:t>
            </a:r>
          </a:p>
        </p:txBody>
      </p:sp>
      <p:sp>
        <p:nvSpPr>
          <p:cNvPr id="949" name="TextBox"/>
          <p:cNvSpPr txBox="1"/>
          <p:nvPr/>
        </p:nvSpPr>
        <p:spPr>
          <a:xfrm>
            <a:off x="28583958" y="23439159"/>
            <a:ext cx="1143186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0B5394"/>
                </a:solidFill>
                <a:latin typeface="IBM Plex Sans"/>
              </a:rPr>
              <a:t>time</a:t>
            </a:r>
          </a:p>
        </p:txBody>
      </p:sp>
      <p:sp>
        <p:nvSpPr>
          <p:cNvPr id="950" name="TextBox"/>
          <p:cNvSpPr txBox="1"/>
          <p:nvPr/>
        </p:nvSpPr>
        <p:spPr>
          <a:xfrm>
            <a:off x="12856464" y="24033519"/>
            <a:ext cx="37929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MLP (memoryless)</a:t>
            </a:r>
          </a:p>
        </p:txBody>
      </p:sp>
      <p:sp>
        <p:nvSpPr>
          <p:cNvPr id="951" name="TextBox"/>
          <p:cNvSpPr txBox="1"/>
          <p:nvPr/>
        </p:nvSpPr>
        <p:spPr>
          <a:xfrm>
            <a:off x="16978548" y="2403351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0.556 ± 0.029</a:t>
            </a:r>
          </a:p>
        </p:txBody>
      </p:sp>
      <p:sp>
        <p:nvSpPr>
          <p:cNvPr id="952" name="TextBox"/>
          <p:cNvSpPr txBox="1"/>
          <p:nvPr/>
        </p:nvSpPr>
        <p:spPr>
          <a:xfrm>
            <a:off x="20280015" y="2403351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0.592 ± 0.027</a:t>
            </a:r>
          </a:p>
        </p:txBody>
      </p:sp>
      <p:sp>
        <p:nvSpPr>
          <p:cNvPr id="953" name="TextBox"/>
          <p:cNvSpPr txBox="1"/>
          <p:nvPr/>
        </p:nvSpPr>
        <p:spPr>
          <a:xfrm>
            <a:off x="23581483" y="24033519"/>
            <a:ext cx="228637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24.3 ± 2.3</a:t>
            </a:r>
          </a:p>
        </p:txBody>
      </p:sp>
      <p:sp>
        <p:nvSpPr>
          <p:cNvPr id="954" name="TextBox"/>
          <p:cNvSpPr txBox="1"/>
          <p:nvPr/>
        </p:nvSpPr>
        <p:spPr>
          <a:xfrm>
            <a:off x="26197039" y="24033519"/>
            <a:ext cx="2057735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1024</a:t>
            </a:r>
          </a:p>
        </p:txBody>
      </p:sp>
      <p:sp>
        <p:nvSpPr>
          <p:cNvPr id="955" name="TextBox"/>
          <p:cNvSpPr txBox="1"/>
          <p:nvPr/>
        </p:nvSpPr>
        <p:spPr>
          <a:xfrm>
            <a:off x="28583958" y="24033519"/>
            <a:ext cx="1143186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1.3 h</a:t>
            </a:r>
          </a:p>
        </p:txBody>
      </p:sp>
      <p:sp>
        <p:nvSpPr>
          <p:cNvPr id="956" name="TextBox"/>
          <p:cNvSpPr txBox="1"/>
          <p:nvPr/>
        </p:nvSpPr>
        <p:spPr>
          <a:xfrm>
            <a:off x="12856464" y="24627879"/>
            <a:ext cx="37929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GRU, L = 1</a:t>
            </a:r>
          </a:p>
        </p:txBody>
      </p:sp>
      <p:sp>
        <p:nvSpPr>
          <p:cNvPr id="957" name="TextBox"/>
          <p:cNvSpPr txBox="1"/>
          <p:nvPr/>
        </p:nvSpPr>
        <p:spPr>
          <a:xfrm>
            <a:off x="16978548" y="2462787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0.573 ± 0.064</a:t>
            </a:r>
          </a:p>
        </p:txBody>
      </p:sp>
      <p:sp>
        <p:nvSpPr>
          <p:cNvPr id="958" name="TextBox"/>
          <p:cNvSpPr txBox="1"/>
          <p:nvPr/>
        </p:nvSpPr>
        <p:spPr>
          <a:xfrm>
            <a:off x="20280015" y="2462787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0.588 ± 0.068</a:t>
            </a:r>
          </a:p>
        </p:txBody>
      </p:sp>
      <p:sp>
        <p:nvSpPr>
          <p:cNvPr id="959" name="TextBox"/>
          <p:cNvSpPr txBox="1"/>
          <p:nvPr/>
        </p:nvSpPr>
        <p:spPr>
          <a:xfrm>
            <a:off x="23581483" y="24627879"/>
            <a:ext cx="228637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9.8 ± 4.1</a:t>
            </a:r>
          </a:p>
        </p:txBody>
      </p:sp>
      <p:sp>
        <p:nvSpPr>
          <p:cNvPr id="960" name="TextBox"/>
          <p:cNvSpPr txBox="1"/>
          <p:nvPr/>
        </p:nvSpPr>
        <p:spPr>
          <a:xfrm>
            <a:off x="26197039" y="24627879"/>
            <a:ext cx="2057735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4096</a:t>
            </a:r>
          </a:p>
        </p:txBody>
      </p:sp>
      <p:sp>
        <p:nvSpPr>
          <p:cNvPr id="961" name="TextBox"/>
          <p:cNvSpPr txBox="1"/>
          <p:nvPr/>
        </p:nvSpPr>
        <p:spPr>
          <a:xfrm>
            <a:off x="28583958" y="24627879"/>
            <a:ext cx="1143186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2.6 h</a:t>
            </a:r>
          </a:p>
        </p:txBody>
      </p:sp>
      <p:sp>
        <p:nvSpPr>
          <p:cNvPr id="962" name="TextBox"/>
          <p:cNvSpPr txBox="1"/>
          <p:nvPr/>
        </p:nvSpPr>
        <p:spPr>
          <a:xfrm>
            <a:off x="12856464" y="25222239"/>
            <a:ext cx="37929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GRU, L = 4</a:t>
            </a:r>
          </a:p>
        </p:txBody>
      </p:sp>
      <p:sp>
        <p:nvSpPr>
          <p:cNvPr id="963" name="TextBox"/>
          <p:cNvSpPr txBox="1"/>
          <p:nvPr/>
        </p:nvSpPr>
        <p:spPr>
          <a:xfrm>
            <a:off x="16978548" y="2522223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0.492 ± 0.001</a:t>
            </a:r>
          </a:p>
        </p:txBody>
      </p:sp>
      <p:sp>
        <p:nvSpPr>
          <p:cNvPr id="964" name="TextBox"/>
          <p:cNvSpPr txBox="1"/>
          <p:nvPr/>
        </p:nvSpPr>
        <p:spPr>
          <a:xfrm>
            <a:off x="20280015" y="2522223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0.500 ± 0.000</a:t>
            </a:r>
          </a:p>
        </p:txBody>
      </p:sp>
      <p:sp>
        <p:nvSpPr>
          <p:cNvPr id="965" name="TextBox"/>
          <p:cNvSpPr txBox="1"/>
          <p:nvPr/>
        </p:nvSpPr>
        <p:spPr>
          <a:xfrm>
            <a:off x="23581483" y="25222239"/>
            <a:ext cx="228637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7.0 ± 0.0</a:t>
            </a:r>
          </a:p>
        </p:txBody>
      </p:sp>
      <p:sp>
        <p:nvSpPr>
          <p:cNvPr id="966" name="TextBox"/>
          <p:cNvSpPr txBox="1"/>
          <p:nvPr/>
        </p:nvSpPr>
        <p:spPr>
          <a:xfrm>
            <a:off x="26197039" y="25222239"/>
            <a:ext cx="2057735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4096</a:t>
            </a:r>
          </a:p>
        </p:txBody>
      </p:sp>
      <p:sp>
        <p:nvSpPr>
          <p:cNvPr id="967" name="TextBox"/>
          <p:cNvSpPr txBox="1"/>
          <p:nvPr/>
        </p:nvSpPr>
        <p:spPr>
          <a:xfrm>
            <a:off x="28583958" y="25222239"/>
            <a:ext cx="1143186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1.6 h</a:t>
            </a:r>
          </a:p>
        </p:txBody>
      </p:sp>
      <p:sp>
        <p:nvSpPr>
          <p:cNvPr id="968" name="TextBox"/>
          <p:cNvSpPr txBox="1"/>
          <p:nvPr/>
        </p:nvSpPr>
        <p:spPr>
          <a:xfrm>
            <a:off x="12856464" y="25816599"/>
            <a:ext cx="37929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GRU, L = 8</a:t>
            </a:r>
          </a:p>
        </p:txBody>
      </p:sp>
      <p:sp>
        <p:nvSpPr>
          <p:cNvPr id="969" name="TextBox"/>
          <p:cNvSpPr txBox="1"/>
          <p:nvPr/>
        </p:nvSpPr>
        <p:spPr>
          <a:xfrm>
            <a:off x="16978548" y="2581659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0.958 ± 0.004</a:t>
            </a:r>
          </a:p>
        </p:txBody>
      </p:sp>
      <p:sp>
        <p:nvSpPr>
          <p:cNvPr id="970" name="TextBox"/>
          <p:cNvSpPr txBox="1"/>
          <p:nvPr/>
        </p:nvSpPr>
        <p:spPr>
          <a:xfrm>
            <a:off x="20280015" y="2581659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1.000 ± 0.000</a:t>
            </a:r>
          </a:p>
        </p:txBody>
      </p:sp>
      <p:sp>
        <p:nvSpPr>
          <p:cNvPr id="971" name="TextBox"/>
          <p:cNvSpPr txBox="1"/>
          <p:nvPr/>
        </p:nvSpPr>
        <p:spPr>
          <a:xfrm>
            <a:off x="23581483" y="25816599"/>
            <a:ext cx="228637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16.8 ± 1.4</a:t>
            </a:r>
          </a:p>
        </p:txBody>
      </p:sp>
      <p:sp>
        <p:nvSpPr>
          <p:cNvPr id="972" name="TextBox"/>
          <p:cNvSpPr txBox="1"/>
          <p:nvPr/>
        </p:nvSpPr>
        <p:spPr>
          <a:xfrm>
            <a:off x="26197039" y="25816599"/>
            <a:ext cx="2057735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4096</a:t>
            </a:r>
          </a:p>
        </p:txBody>
      </p:sp>
      <p:sp>
        <p:nvSpPr>
          <p:cNvPr id="973" name="TextBox"/>
          <p:cNvSpPr txBox="1"/>
          <p:nvPr/>
        </p:nvSpPr>
        <p:spPr>
          <a:xfrm>
            <a:off x="28583958" y="25816599"/>
            <a:ext cx="1143186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2.0 h</a:t>
            </a:r>
          </a:p>
        </p:txBody>
      </p:sp>
      <p:sp>
        <p:nvSpPr>
          <p:cNvPr id="974" name="TextBox"/>
          <p:cNvSpPr txBox="1"/>
          <p:nvPr/>
        </p:nvSpPr>
        <p:spPr>
          <a:xfrm>
            <a:off x="12856464" y="26410959"/>
            <a:ext cx="379290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GRU, full BPTT</a:t>
            </a:r>
          </a:p>
        </p:txBody>
      </p:sp>
      <p:sp>
        <p:nvSpPr>
          <p:cNvPr id="975" name="TextBox"/>
          <p:cNvSpPr txBox="1"/>
          <p:nvPr/>
        </p:nvSpPr>
        <p:spPr>
          <a:xfrm>
            <a:off x="16978548" y="2641095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0.958 ± 0.002</a:t>
            </a:r>
          </a:p>
        </p:txBody>
      </p:sp>
      <p:sp>
        <p:nvSpPr>
          <p:cNvPr id="976" name="TextBox"/>
          <p:cNvSpPr txBox="1"/>
          <p:nvPr/>
        </p:nvSpPr>
        <p:spPr>
          <a:xfrm>
            <a:off x="20280015" y="26410959"/>
            <a:ext cx="2972284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1.000 ± 0.000</a:t>
            </a:r>
          </a:p>
        </p:txBody>
      </p:sp>
      <p:sp>
        <p:nvSpPr>
          <p:cNvPr id="977" name="TextBox"/>
          <p:cNvSpPr txBox="1"/>
          <p:nvPr/>
        </p:nvSpPr>
        <p:spPr>
          <a:xfrm>
            <a:off x="23581483" y="26410959"/>
            <a:ext cx="2286372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16.8 ± 0.9</a:t>
            </a:r>
          </a:p>
        </p:txBody>
      </p:sp>
      <p:sp>
        <p:nvSpPr>
          <p:cNvPr id="978" name="TextBox"/>
          <p:cNvSpPr txBox="1"/>
          <p:nvPr/>
        </p:nvSpPr>
        <p:spPr>
          <a:xfrm>
            <a:off x="26197039" y="26410959"/>
            <a:ext cx="2057735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512</a:t>
            </a:r>
          </a:p>
        </p:txBody>
      </p:sp>
      <p:sp>
        <p:nvSpPr>
          <p:cNvPr id="979" name="TextBox"/>
          <p:cNvSpPr txBox="1"/>
          <p:nvPr/>
        </p:nvSpPr>
        <p:spPr>
          <a:xfrm>
            <a:off x="28583958" y="26410959"/>
            <a:ext cx="1143186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02124"/>
                </a:solidFill>
                <a:latin typeface="IBM Plex Sans"/>
              </a:rPr>
              <a:t>1.3 h</a:t>
            </a:r>
          </a:p>
        </p:txBody>
      </p:sp>
      <p:sp>
        <p:nvSpPr>
          <p:cNvPr id="980" name="TextBox"/>
          <p:cNvSpPr txBox="1"/>
          <p:nvPr/>
        </p:nvSpPr>
        <p:spPr>
          <a:xfrm>
            <a:off x="12856464" y="27206487"/>
            <a:ext cx="16870680" cy="495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3000" b="0" dirty="0">
                <a:solidFill>
                  <a:srgbClr val="5F6368"/>
                </a:solidFill>
                <a:latin typeface="IBM Plex Sans"/>
              </a:rPr>
              <a:t>Winning trial per study; mean ± std across the five seeds.</a:t>
            </a:r>
          </a:p>
        </p:txBody>
      </p:sp>
      <p:pic>
        <p:nvPicPr>
          <p:cNvPr id="1007" name="Picture 1006" descr="fig_en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4815116"/>
            <a:ext cx="11439144" cy="5671556"/>
          </a:xfrm>
          <a:prstGeom prst="rect">
            <a:avLst/>
          </a:prstGeom>
        </p:spPr>
      </p:pic>
      <p:pic>
        <p:nvPicPr>
          <p:cNvPr id="1011" name="Picture 1010" descr="network_combin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6464" y="8500618"/>
            <a:ext cx="16870680" cy="3814396"/>
          </a:xfrm>
          <a:prstGeom prst="rect">
            <a:avLst/>
          </a:prstGeom>
        </p:spPr>
      </p:pic>
      <p:pic>
        <p:nvPicPr>
          <p:cNvPr id="1012" name="Picture 1011" descr="compare_curv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56464" y="27976107"/>
            <a:ext cx="16870680" cy="5349240"/>
          </a:xfrm>
          <a:prstGeom prst="rect">
            <a:avLst/>
          </a:prstGeom>
        </p:spPr>
      </p:pic>
      <p:pic>
        <p:nvPicPr>
          <p:cNvPr id="1010" name="Picture 1009" descr="ppo_loss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57632" y="13527864"/>
            <a:ext cx="16468344" cy="3227832"/>
          </a:xfrm>
          <a:prstGeom prst="rect">
            <a:avLst/>
          </a:prstGeom>
        </p:spPr>
      </p:pic>
      <p:sp>
        <p:nvSpPr>
          <p:cNvPr id="1013" name="Rectangle 1012"/>
          <p:cNvSpPr/>
          <p:nvPr/>
        </p:nvSpPr>
        <p:spPr>
          <a:xfrm>
            <a:off x="256032" y="31758940"/>
            <a:ext cx="12024360" cy="10596067"/>
          </a:xfrm>
          <a:prstGeom prst="rect">
            <a:avLst/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14" name="Rectangle 1013"/>
          <p:cNvSpPr/>
          <p:nvPr/>
        </p:nvSpPr>
        <p:spPr>
          <a:xfrm>
            <a:off x="256032" y="31758940"/>
            <a:ext cx="12024360" cy="1078992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15" name="Rectangle 1014"/>
          <p:cNvSpPr/>
          <p:nvPr/>
        </p:nvSpPr>
        <p:spPr>
          <a:xfrm>
            <a:off x="429768" y="31877812"/>
            <a:ext cx="841248" cy="841248"/>
          </a:xfrm>
          <a:prstGeom prst="rect">
            <a:avLst/>
          </a:prstGeom>
          <a:solidFill>
            <a:srgbClr val="F3F3F3"/>
          </a:solidFill>
          <a:ln w="1905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16" name="TextBox 1015"/>
          <p:cNvSpPr txBox="1"/>
          <p:nvPr/>
        </p:nvSpPr>
        <p:spPr>
          <a:xfrm>
            <a:off x="429768" y="31960108"/>
            <a:ext cx="841248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0">
                <a:solidFill>
                  <a:srgbClr val="0B5394"/>
                </a:solidFill>
                <a:latin typeface="IBM Plex Sans"/>
              </a:rPr>
              <a:t>5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1691640" y="31850380"/>
            <a:ext cx="10378440" cy="8586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BM Plex Sans"/>
              </a:rPr>
              <a:t>Key Insights</a:t>
            </a:r>
          </a:p>
        </p:txBody>
      </p:sp>
      <p:sp>
        <p:nvSpPr>
          <p:cNvPr id="1018" name="Rectangle 1017"/>
          <p:cNvSpPr/>
          <p:nvPr/>
        </p:nvSpPr>
        <p:spPr>
          <a:xfrm>
            <a:off x="548640" y="33185404"/>
            <a:ext cx="566928" cy="566928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548640" y="332402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1389888" y="33112252"/>
            <a:ext cx="10597896" cy="21297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300" b="1">
                <a:solidFill>
                  <a:srgbClr val="202124"/>
                </a:solidFill>
                <a:latin typeface="IBM Plex Sans"/>
              </a:rPr>
              <a:t>Carrying </a:t>
            </a:r>
            <a:r>
              <a:rPr sz="4300" b="1">
                <a:solidFill>
                  <a:srgbClr val="202124"/>
                </a:solidFill>
                <a:latin typeface="IBM Plex Mono"/>
              </a:rPr>
              <a:t>h</a:t>
            </a:r>
            <a:r>
              <a:rPr sz="4300" b="1">
                <a:solidFill>
                  <a:srgbClr val="202124"/>
                </a:solidFill>
                <a:latin typeface="IBM Plex Sans"/>
              </a:rPr>
              <a:t> forward is not what matters.</a:t>
            </a:r>
          </a:p>
          <a:p>
            <a:pPr algn="l">
              <a:lnSpc>
                <a:spcPct val="100000"/>
              </a:lnSpc>
            </a:pPr>
            <a:r>
              <a:rPr sz="4300" b="0">
                <a:solidFill>
                  <a:srgbClr val="202124"/>
                </a:solidFill>
                <a:latin typeface="IBM Plex Sans"/>
              </a:rPr>
              <a:t>Every GRU arm does it; only the reach of the gradient differs.</a:t>
            </a:r>
          </a:p>
        </p:txBody>
      </p:sp>
      <p:sp>
        <p:nvSpPr>
          <p:cNvPr id="1021" name="Rectangle 1020"/>
          <p:cNvSpPr/>
          <p:nvPr/>
        </p:nvSpPr>
        <p:spPr>
          <a:xfrm>
            <a:off x="548640" y="35524812"/>
            <a:ext cx="566928" cy="566928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22" name="TextBox 1021"/>
          <p:cNvSpPr txBox="1"/>
          <p:nvPr/>
        </p:nvSpPr>
        <p:spPr>
          <a:xfrm>
            <a:off x="548640" y="3557967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1389888" y="35451660"/>
            <a:ext cx="10597896" cy="1985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300" b="1" dirty="0">
                <a:solidFill>
                  <a:srgbClr val="202124"/>
                </a:solidFill>
                <a:latin typeface="IBM Plex Sans"/>
              </a:rPr>
              <a:t>What matters is the </a:t>
            </a:r>
            <a:r>
              <a:rPr sz="4300" b="1" dirty="0" err="1">
                <a:solidFill>
                  <a:srgbClr val="202124"/>
                </a:solidFill>
                <a:latin typeface="IBM Plex Sans"/>
              </a:rPr>
              <a:t>cue→decision</a:t>
            </a:r>
            <a:r>
              <a:rPr sz="4300" b="1" dirty="0">
                <a:solidFill>
                  <a:srgbClr val="202124"/>
                </a:solidFill>
                <a:latin typeface="IBM Plex Sans"/>
              </a:rPr>
              <a:t> gap.</a:t>
            </a:r>
          </a:p>
          <a:p>
            <a:pPr algn="l">
              <a:lnSpc>
                <a:spcPct val="100000"/>
              </a:lnSpc>
            </a:pPr>
            <a:r>
              <a:rPr sz="4300" b="0" dirty="0">
                <a:solidFill>
                  <a:srgbClr val="202124"/>
                </a:solidFill>
                <a:latin typeface="IBM Plex Sans"/>
              </a:rPr>
              <a:t>Not the episode length. ≤ 8 steps in 62 % of mazes, ≤ 4 in </a:t>
            </a:r>
            <a:r>
              <a:rPr lang="de-DE" sz="4300" b="0" dirty="0">
                <a:solidFill>
                  <a:srgbClr val="202124"/>
                </a:solidFill>
                <a:latin typeface="IBM Plex Sans"/>
              </a:rPr>
              <a:t>0</a:t>
            </a:r>
            <a:r>
              <a:rPr sz="4300" b="0" dirty="0">
                <a:solidFill>
                  <a:srgbClr val="202124"/>
                </a:solidFill>
                <a:latin typeface="IBM Plex Sans"/>
              </a:rPr>
              <a:t>%.</a:t>
            </a:r>
          </a:p>
        </p:txBody>
      </p:sp>
      <p:sp>
        <p:nvSpPr>
          <p:cNvPr id="1024" name="Rectangle 1023"/>
          <p:cNvSpPr/>
          <p:nvPr/>
        </p:nvSpPr>
        <p:spPr>
          <a:xfrm>
            <a:off x="548640" y="37864220"/>
            <a:ext cx="566928" cy="566928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25" name="TextBox 1024"/>
          <p:cNvSpPr txBox="1"/>
          <p:nvPr/>
        </p:nvSpPr>
        <p:spPr>
          <a:xfrm>
            <a:off x="548640" y="379190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1389888" y="37791068"/>
            <a:ext cx="10597896" cy="21297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300" b="1">
                <a:solidFill>
                  <a:srgbClr val="202124"/>
                </a:solidFill>
                <a:latin typeface="IBM Plex Sans"/>
              </a:rPr>
              <a:t>The reach costs memory, not time.</a:t>
            </a:r>
          </a:p>
          <a:p>
            <a:pPr algn="l">
              <a:lnSpc>
                <a:spcPct val="100000"/>
              </a:lnSpc>
            </a:pPr>
            <a:r>
              <a:rPr sz="4300" b="0">
                <a:solidFill>
                  <a:srgbClr val="202124"/>
                </a:solidFill>
                <a:latin typeface="IBM Plex Sans"/>
              </a:rPr>
              <a:t>Full BPTT is the fastest GRU arm (1.3 h); it pays in VRAM.</a:t>
            </a:r>
          </a:p>
        </p:txBody>
      </p:sp>
      <p:sp>
        <p:nvSpPr>
          <p:cNvPr id="1027" name="Rectangle 1026"/>
          <p:cNvSpPr/>
          <p:nvPr/>
        </p:nvSpPr>
        <p:spPr>
          <a:xfrm>
            <a:off x="548640" y="40130476"/>
            <a:ext cx="11439144" cy="1895347"/>
          </a:xfrm>
          <a:prstGeom prst="rect">
            <a:avLst/>
          </a:prstGeom>
          <a:solidFill>
            <a:srgbClr val="EEF3FA"/>
          </a:solidFill>
          <a:ln w="19050">
            <a:solidFill>
              <a:srgbClr val="EEF3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28" name="TextBox 1027"/>
          <p:cNvSpPr txBox="1"/>
          <p:nvPr/>
        </p:nvSpPr>
        <p:spPr>
          <a:xfrm>
            <a:off x="786384" y="40368220"/>
            <a:ext cx="10963656" cy="1419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300" b="1">
                <a:solidFill>
                  <a:srgbClr val="0B5394"/>
                </a:solidFill>
                <a:latin typeface="IBM Plex Sans"/>
              </a:rPr>
              <a:t>Recommendation.</a:t>
            </a:r>
            <a:r>
              <a:rPr sz="4300" b="0">
                <a:solidFill>
                  <a:srgbClr val="0B5394"/>
                </a:solidFill>
                <a:latin typeface="IBM Plex Sans"/>
              </a:rPr>
              <a:t> Full BPTT; </a:t>
            </a:r>
            <a:r>
              <a:rPr sz="4300" b="0">
                <a:solidFill>
                  <a:srgbClr val="0B5394"/>
                </a:solidFill>
                <a:latin typeface="IBM Plex Mono"/>
              </a:rPr>
              <a:t>L</a:t>
            </a:r>
            <a:r>
              <a:rPr sz="4300" b="0">
                <a:solidFill>
                  <a:srgbClr val="0B5394"/>
                </a:solidFill>
                <a:latin typeface="IBM Plex Sans"/>
              </a:rPr>
              <a:t> = 8 on a smaller GPU.</a:t>
            </a:r>
          </a:p>
        </p:txBody>
      </p:sp>
      <p:sp>
        <p:nvSpPr>
          <p:cNvPr id="1029" name="Rectangle 1028"/>
          <p:cNvSpPr/>
          <p:nvPr/>
        </p:nvSpPr>
        <p:spPr>
          <a:xfrm>
            <a:off x="12563856" y="33969045"/>
            <a:ext cx="17455896" cy="8385962"/>
          </a:xfrm>
          <a:prstGeom prst="rect">
            <a:avLst/>
          </a:prstGeom>
          <a:solidFill>
            <a:srgbClr val="FFFFFF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30" name="Rectangle 1029"/>
          <p:cNvSpPr/>
          <p:nvPr/>
        </p:nvSpPr>
        <p:spPr>
          <a:xfrm>
            <a:off x="12563856" y="33969045"/>
            <a:ext cx="17455896" cy="1078992"/>
          </a:xfrm>
          <a:prstGeom prst="rect">
            <a:avLst/>
          </a:prstGeom>
          <a:solidFill>
            <a:srgbClr val="0B5394"/>
          </a:solidFill>
          <a:ln w="1905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31" name="Rectangle 1030"/>
          <p:cNvSpPr/>
          <p:nvPr/>
        </p:nvSpPr>
        <p:spPr>
          <a:xfrm>
            <a:off x="12737592" y="34087917"/>
            <a:ext cx="841248" cy="841248"/>
          </a:xfrm>
          <a:prstGeom prst="rect">
            <a:avLst/>
          </a:prstGeom>
          <a:solidFill>
            <a:srgbClr val="F3F3F3"/>
          </a:solidFill>
          <a:ln w="19050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32" name="TextBox 1031"/>
          <p:cNvSpPr txBox="1"/>
          <p:nvPr/>
        </p:nvSpPr>
        <p:spPr>
          <a:xfrm>
            <a:off x="12737592" y="34170213"/>
            <a:ext cx="841248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0">
                <a:solidFill>
                  <a:srgbClr val="0B5394"/>
                </a:solidFill>
                <a:latin typeface="IBM Plex Sans"/>
              </a:rPr>
              <a:t>6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13999464" y="34060485"/>
            <a:ext cx="15809976" cy="8586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BM Plex Sans"/>
              </a:rPr>
              <a:t>Limitations &amp; Future Work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12856464" y="35322357"/>
            <a:ext cx="16870680" cy="5063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</a:pPr>
            <a:r>
              <a:rPr sz="4300" b="0">
                <a:solidFill>
                  <a:srgbClr val="202124"/>
                </a:solidFill>
                <a:latin typeface="IBM Plex Sans"/>
              </a:rPr>
              <a:t>• One task, one architecture, one algorithm</a:t>
            </a:r>
          </a:p>
          <a:p>
            <a:pPr marL="310896" indent="-310896" algn="l">
              <a:lnSpc>
                <a:spcPct val="100000"/>
              </a:lnSpc>
              <a:spcBef>
                <a:spcPts val="5837"/>
              </a:spcBef>
            </a:pPr>
            <a:r>
              <a:rPr sz="4300" b="0">
                <a:solidFill>
                  <a:srgbClr val="202124"/>
                </a:solidFill>
                <a:latin typeface="IBM Plex Sans"/>
              </a:rPr>
              <a:t>• </a:t>
            </a:r>
            <a:r>
              <a:rPr sz="4300" b="1">
                <a:solidFill>
                  <a:srgbClr val="202124"/>
                </a:solidFill>
                <a:latin typeface="IBM Plex Sans"/>
              </a:rPr>
              <a:t>GRU is slow:</a:t>
            </a:r>
            <a:r>
              <a:rPr sz="4300" b="0">
                <a:solidFill>
                  <a:srgbClr val="202124"/>
                </a:solidFill>
                <a:latin typeface="IBM Plex Sans"/>
              </a:rPr>
              <a:t> the recurrence runs step by step</a:t>
            </a:r>
          </a:p>
          <a:p>
            <a:pPr marL="310896" indent="-310896" algn="l">
              <a:lnSpc>
                <a:spcPct val="100000"/>
              </a:lnSpc>
              <a:spcBef>
                <a:spcPts val="5837"/>
              </a:spcBef>
            </a:pPr>
            <a:r>
              <a:rPr sz="4300" b="0">
                <a:solidFill>
                  <a:srgbClr val="202124"/>
                </a:solidFill>
                <a:latin typeface="IBM Plex Sans"/>
              </a:rPr>
              <a:t>• Next: </a:t>
            </a:r>
            <a:r>
              <a:rPr sz="4300" b="1">
                <a:solidFill>
                  <a:srgbClr val="202124"/>
                </a:solidFill>
                <a:latin typeface="IBM Plex Sans"/>
              </a:rPr>
              <a:t>LSTM</a:t>
            </a:r>
            <a:r>
              <a:rPr sz="4300" b="0">
                <a:solidFill>
                  <a:srgbClr val="202124"/>
                </a:solidFill>
                <a:latin typeface="IBM Plex Sans"/>
              </a:rPr>
              <a:t> for a bigger environment</a:t>
            </a:r>
          </a:p>
          <a:p>
            <a:pPr marL="310896" indent="-310896" algn="l">
              <a:lnSpc>
                <a:spcPct val="100000"/>
              </a:lnSpc>
              <a:spcBef>
                <a:spcPts val="5837"/>
              </a:spcBef>
            </a:pPr>
            <a:r>
              <a:rPr sz="4300" b="0">
                <a:solidFill>
                  <a:srgbClr val="202124"/>
                </a:solidFill>
                <a:latin typeface="IBM Plex Sans"/>
              </a:rPr>
              <a:t>• Next: </a:t>
            </a:r>
            <a:r>
              <a:rPr sz="4300" b="1">
                <a:solidFill>
                  <a:srgbClr val="202124"/>
                </a:solidFill>
                <a:latin typeface="IBM Plex Sans"/>
              </a:rPr>
              <a:t>transformer</a:t>
            </a:r>
            <a:r>
              <a:rPr sz="4300" b="0">
                <a:solidFill>
                  <a:srgbClr val="202124"/>
                </a:solidFill>
                <a:latin typeface="IBM Plex Sans"/>
              </a:rPr>
              <a:t> for a faster training time</a:t>
            </a:r>
          </a:p>
        </p:txBody>
      </p:sp>
      <p:sp>
        <p:nvSpPr>
          <p:cNvPr id="1035" name="Rectangle 1034"/>
          <p:cNvSpPr/>
          <p:nvPr/>
        </p:nvSpPr>
        <p:spPr>
          <a:xfrm>
            <a:off x="12856464" y="40797480"/>
            <a:ext cx="16870680" cy="18288"/>
          </a:xfrm>
          <a:prstGeom prst="rect">
            <a:avLst/>
          </a:prstGeom>
          <a:solidFill>
            <a:srgbClr val="D5D8DC"/>
          </a:solidFill>
          <a:ln w="1905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36" name="TextBox 1035"/>
          <p:cNvSpPr txBox="1"/>
          <p:nvPr/>
        </p:nvSpPr>
        <p:spPr>
          <a:xfrm>
            <a:off x="12856464" y="41035224"/>
            <a:ext cx="16870680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F6368"/>
                </a:solidFill>
                <a:latin typeface="IBM Plex Sans"/>
              </a:rPr>
              <a:t>References.</a:t>
            </a:r>
            <a:r>
              <a:rPr sz="3000" b="0">
                <a:solidFill>
                  <a:srgbClr val="5F6368"/>
                </a:solidFill>
                <a:latin typeface="IBM Plex Sans"/>
              </a:rPr>
              <a:t> Hausknecht &amp; Stone 2015 · Kapturowski et al. 2019 (R2D2) · Ni et al. 2022 · Schulman et al. 2017 (PPO) · Chevalier-Boisvert et al. 2023 (MiniGrid)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502</Words>
  <Application>Microsoft Macintosh PowerPoint</Application>
  <PresentationFormat>Custom</PresentationFormat>
  <Paragraphs>92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IBM Plex Mono</vt:lpstr>
      <vt:lpstr>IBM Plex Sans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6</cp:revision>
  <dcterms:modified xsi:type="dcterms:W3CDTF">2026-08-23T21:00:47Z</dcterms:modified>
</cp:coreProperties>
</file>