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42804000" cx="30276000"/>
  <p:notesSz cx="6858000" cy="9144000"/>
  <p:embeddedFontLst>
    <p:embeddedFont>
      <p:font typeface="IBM Plex Sans"/>
      <p:regular r:id="rId7"/>
      <p:bold r:id="rId8"/>
      <p:italic r:id="rId9"/>
      <p:boldItalic r:id="rId10"/>
    </p:embeddedFont>
    <p:embeddedFont>
      <p:font typeface="Lora"/>
      <p:regular r:id="rId11"/>
      <p:bold r:id="rId12"/>
      <p:italic r:id="rId13"/>
      <p:boldItalic r:id="rId14"/>
    </p:embeddedFont>
    <p:embeddedFont>
      <p:font typeface="IBM Plex Mon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3482">
          <p15:clr>
            <a:srgbClr val="A4A3A4"/>
          </p15:clr>
        </p15:guide>
        <p15:guide id="2" pos="95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3482" orient="horz"/>
        <p:guide pos="953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BMPlexSans-regular.fntdata"/><Relationship Id="rId8" Type="http://schemas.openxmlformats.org/officeDocument/2006/relationships/font" Target="fonts/IBMPlexSans-bold.fntdata"/><Relationship Id="rId9" Type="http://schemas.openxmlformats.org/officeDocument/2006/relationships/font" Target="fonts/IBMPlexSans-italic.fntdata"/><Relationship Id="rId10" Type="http://schemas.openxmlformats.org/officeDocument/2006/relationships/font" Target="fonts/IBMPlexSans-boldItalic.fntdata"/><Relationship Id="rId11" Type="http://schemas.openxmlformats.org/officeDocument/2006/relationships/font" Target="fonts/Lora-regular.fntdata"/><Relationship Id="rId12" Type="http://schemas.openxmlformats.org/officeDocument/2006/relationships/font" Target="fonts/Lora-bold.fntdata"/><Relationship Id="rId13" Type="http://schemas.openxmlformats.org/officeDocument/2006/relationships/font" Target="fonts/Lora-italic.fntdata"/><Relationship Id="rId14" Type="http://schemas.openxmlformats.org/officeDocument/2006/relationships/font" Target="fonts/Lora-boldItalic.fntdata"/><Relationship Id="rId15" Type="http://schemas.openxmlformats.org/officeDocument/2006/relationships/font" Target="fonts/IBMPlexMono-regular.fntdata"/><Relationship Id="rId16" Type="http://schemas.openxmlformats.org/officeDocument/2006/relationships/font" Target="fonts/IBMPlexMono-bold.fntdata"/><Relationship Id="rId17" Type="http://schemas.openxmlformats.org/officeDocument/2006/relationships/font" Target="fonts/IBMPlexMono-italic.fntdata"/><Relationship Id="rId18" Type="http://schemas.openxmlformats.org/officeDocument/2006/relationships/font" Target="fonts/IBMPlexMon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ef0b5ab663_0_68:notes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ef0b5ab663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1032074" y="6196323"/>
            <a:ext cx="28212000" cy="17081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1pPr>
            <a:lvl2pPr lvl="1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032046" y="23585474"/>
            <a:ext cx="28212000" cy="6596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1032046" y="17899287"/>
            <a:ext cx="28212000" cy="70053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1032046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16000191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1032046" y="4623681"/>
            <a:ext cx="9297300" cy="62892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1032046" y="11564195"/>
            <a:ext cx="9297300" cy="26459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635000" lvl="0" marL="4572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1623229" y="3746130"/>
            <a:ext cx="21084000" cy="34043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5138000" y="-1040"/>
            <a:ext cx="15138000" cy="4280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87600" lIns="487600" spcFirstLastPara="1" rIns="487600" wrap="square" tIns="4876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879077" y="10262433"/>
            <a:ext cx="13393800" cy="12335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879077" y="23327077"/>
            <a:ext cx="13393800" cy="102783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16354801" y="6025723"/>
            <a:ext cx="12704400" cy="307506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1032046" y="35206675"/>
            <a:ext cx="19862100" cy="50355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1032046" y="9205128"/>
            <a:ext cx="28212000" cy="163404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1032046" y="26232690"/>
            <a:ext cx="28212000" cy="108249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indent="-7048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2pPr>
            <a:lvl3pPr indent="-7048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3pPr>
            <a:lvl4pPr indent="-7048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4pPr>
            <a:lvl5pPr indent="-7048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5pPr>
            <a:lvl6pPr indent="-7048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6pPr>
            <a:lvl7pPr indent="-7048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7pPr>
            <a:lvl8pPr indent="-7048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8pPr>
            <a:lvl9pPr indent="-704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r">
              <a:buNone/>
              <a:defRPr sz="5300">
                <a:solidFill>
                  <a:schemeClr val="dk2"/>
                </a:solidFill>
              </a:defRPr>
            </a:lvl1pPr>
            <a:lvl2pPr lvl="1" algn="r">
              <a:buNone/>
              <a:defRPr sz="5300">
                <a:solidFill>
                  <a:schemeClr val="dk2"/>
                </a:solidFill>
              </a:defRPr>
            </a:lvl2pPr>
            <a:lvl3pPr lvl="2" algn="r">
              <a:buNone/>
              <a:defRPr sz="5300">
                <a:solidFill>
                  <a:schemeClr val="dk2"/>
                </a:solidFill>
              </a:defRPr>
            </a:lvl3pPr>
            <a:lvl4pPr lvl="3" algn="r">
              <a:buNone/>
              <a:defRPr sz="5300">
                <a:solidFill>
                  <a:schemeClr val="dk2"/>
                </a:solidFill>
              </a:defRPr>
            </a:lvl4pPr>
            <a:lvl5pPr lvl="4" algn="r">
              <a:buNone/>
              <a:defRPr sz="5300">
                <a:solidFill>
                  <a:schemeClr val="dk2"/>
                </a:solidFill>
              </a:defRPr>
            </a:lvl5pPr>
            <a:lvl6pPr lvl="5" algn="r">
              <a:buNone/>
              <a:defRPr sz="5300">
                <a:solidFill>
                  <a:schemeClr val="dk2"/>
                </a:solidFill>
              </a:defRPr>
            </a:lvl6pPr>
            <a:lvl7pPr lvl="6" algn="r">
              <a:buNone/>
              <a:defRPr sz="5300">
                <a:solidFill>
                  <a:schemeClr val="dk2"/>
                </a:solidFill>
              </a:defRPr>
            </a:lvl7pPr>
            <a:lvl8pPr lvl="7" algn="r">
              <a:buNone/>
              <a:defRPr sz="5300">
                <a:solidFill>
                  <a:schemeClr val="dk2"/>
                </a:solidFill>
              </a:defRPr>
            </a:lvl8pPr>
            <a:lvl9pPr lvl="8" algn="r">
              <a:buNone/>
              <a:defRPr sz="5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-18000"/>
            <a:ext cx="30312001" cy="251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5985975"/>
            <a:ext cx="30312001" cy="2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" y="42553175"/>
            <a:ext cx="30276000" cy="25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917600" y="686825"/>
            <a:ext cx="7378207" cy="212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933113" y="687600"/>
            <a:ext cx="1538712" cy="21276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TextBox 82"/>
          <p:cNvSpPr txBox="1"/>
          <p:nvPr/>
        </p:nvSpPr>
        <p:spPr>
          <a:xfrm>
            <a:off x="274320" y="868680"/>
            <a:ext cx="20482560" cy="12960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600" b="1">
                <a:solidFill>
                  <a:srgbClr val="202124"/>
                </a:solidFill>
                <a:latin typeface="IBM Plex Sans"/>
              </a:rPr>
              <a:t>How Far Back Must the Gradient Reach?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92608" y="2331720"/>
            <a:ext cx="20482560" cy="949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0">
                <a:solidFill>
                  <a:srgbClr val="0B5394"/>
                </a:solidFill>
                <a:latin typeface="IBM Plex Sans"/>
              </a:rPr>
              <a:t>Truncated BPTT length and memory in PPO on MiniGrid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2608" y="3520440"/>
            <a:ext cx="27432000" cy="75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>
                <a:solidFill>
                  <a:srgbClr val="202124"/>
                </a:solidFill>
                <a:latin typeface="IBM Plex Sans"/>
              </a:rPr>
              <a:t>Anh Khoa Pham   ·   github.com/khoaphamanh/rl_project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92608" y="4526280"/>
            <a:ext cx="27432000" cy="7023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700" b="0">
                <a:solidFill>
                  <a:srgbClr val="9E9E9E"/>
                </a:solidFill>
                <a:latin typeface="IBM Plex Sans"/>
              </a:rPr>
              <a:t>Poster presentation in context of the Reinforcement Learning lecture</a:t>
            </a:r>
          </a:p>
        </p:txBody>
      </p:sp>
      <p:pic>
        <p:nvPicPr>
          <p:cNvPr id="87" name="Picture 86" descr="qr_re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34920" y="3127248"/>
            <a:ext cx="2103120" cy="210312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20939760" y="3639312"/>
            <a:ext cx="6812280" cy="1036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2700" b="0">
                <a:solidFill>
                  <a:srgbClr val="5F6368"/>
                </a:solidFill>
                <a:latin typeface="IBM Plex Sans"/>
              </a:rPr>
              <a:t>Code, studies and</a:t>
            </a:r>
          </a:p>
          <a:p>
            <a:pPr algn="r">
              <a:lnSpc>
                <a:spcPct val="106000"/>
              </a:lnSpc>
            </a:pPr>
            <a:r>
              <a:rPr sz="2700" b="0">
                <a:solidFill>
                  <a:srgbClr val="5F6368"/>
                </a:solidFill>
                <a:latin typeface="IBM Plex Sans"/>
              </a:rPr>
              <a:t>winning checkpoints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56032" y="6327648"/>
            <a:ext cx="11338560" cy="8883573"/>
          </a:xfrm>
          <a:prstGeom prst="rect">
            <a:avLst/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56032" y="6327648"/>
            <a:ext cx="11338560" cy="987552"/>
          </a:xfrm>
          <a:prstGeom prst="rect">
            <a:avLst/>
          </a:prstGeom>
          <a:solidFill>
            <a:srgbClr val="0B5394"/>
          </a:solidFill>
          <a:ln w="19050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98448" rIns="0" tIns="0" bIns="0"/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IBM Plex Sans"/>
              </a:rPr>
              <a:t>TL;DR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11480" y="6432804"/>
            <a:ext cx="777240" cy="777240"/>
          </a:xfrm>
          <a:prstGeom prst="rect">
            <a:avLst/>
          </a:prstGeom>
          <a:solidFill>
            <a:srgbClr val="F3F3F3"/>
          </a:solidFill>
          <a:ln w="1905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4200" b="1">
                <a:solidFill>
                  <a:srgbClr val="0B5394"/>
                </a:solidFill>
                <a:latin typeface="IBM Plex Sans"/>
              </a:rP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0080" y="7571232"/>
            <a:ext cx="10570464" cy="3845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0">
                <a:solidFill>
                  <a:srgbClr val="202124"/>
                </a:solidFill>
                <a:latin typeface="IBM Plex Sans"/>
              </a:rPr>
              <a:t>A recurrent policy can only use a memory that its </a:t>
            </a:r>
            <a:r>
              <a:rPr sz="2900" b="1">
                <a:solidFill>
                  <a:srgbClr val="202124"/>
                </a:solidFill>
                <a:latin typeface="IBM Plex Sans"/>
              </a:rPr>
              <a:t>gradient</a:t>
            </a:r>
            <a:r>
              <a:rPr sz="2900" b="0">
                <a:solidFill>
                  <a:srgbClr val="202124"/>
                </a:solidFill>
                <a:latin typeface="IBM Plex Sans"/>
              </a:rPr>
              <a:t> has taught it to write. One PPO pipeline, fixed; the only thing varied is how far back that gradient may reach — the TBPTT window </a:t>
            </a:r>
            <a:r>
              <a:rPr sz="2900" b="0">
                <a:solidFill>
                  <a:srgbClr val="202124"/>
                </a:solidFill>
                <a:latin typeface="IBM Plex Mono"/>
              </a:rPr>
              <a:t>L</a:t>
            </a:r>
            <a:r>
              <a:rPr sz="2900" b="0">
                <a:solidFill>
                  <a:srgbClr val="202124"/>
                </a:solidFill>
                <a:latin typeface="IBM Plex Sans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1584"/>
              </a:spcBef>
            </a:pPr>
            <a:r>
              <a:rPr sz="2900" b="1">
                <a:solidFill>
                  <a:srgbClr val="202124"/>
                </a:solidFill>
                <a:latin typeface="IBM Plex Sans"/>
              </a:rPr>
              <a:t>The threshold is sharp.</a:t>
            </a:r>
            <a:r>
              <a:rPr sz="2900" b="0">
                <a:solidFill>
                  <a:srgbClr val="202124"/>
                </a:solidFill>
                <a:latin typeface="IBM Plex Sans"/>
              </a:rPr>
              <a:t> </a:t>
            </a:r>
            <a:r>
              <a:rPr sz="2900" b="0">
                <a:solidFill>
                  <a:srgbClr val="202124"/>
                </a:solidFill>
                <a:latin typeface="IBM Plex Mono"/>
              </a:rPr>
              <a:t>L</a:t>
            </a:r>
            <a:r>
              <a:rPr sz="2900" b="0">
                <a:solidFill>
                  <a:srgbClr val="202124"/>
                </a:solidFill>
                <a:latin typeface="IBM Plex Sans"/>
              </a:rPr>
              <a:t> ≥ 8 solves the task on every seed; </a:t>
            </a:r>
            <a:r>
              <a:rPr sz="2900" b="0">
                <a:solidFill>
                  <a:srgbClr val="202124"/>
                </a:solidFill>
                <a:latin typeface="IBM Plex Mono"/>
              </a:rPr>
              <a:t>L</a:t>
            </a:r>
            <a:r>
              <a:rPr sz="2900" b="0">
                <a:solidFill>
                  <a:srgbClr val="202124"/>
                </a:solidFill>
                <a:latin typeface="IBM Plex Sans"/>
              </a:rPr>
              <a:t> ≤ 4 never beats a coin flip. Reaching further costs VRAM, not time.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40080" y="11672493"/>
            <a:ext cx="2491740" cy="2157984"/>
          </a:xfrm>
          <a:prstGeom prst="rect">
            <a:avLst/>
          </a:prstGeom>
          <a:solidFill>
            <a:srgbClr val="EEF3FA"/>
          </a:solidFill>
          <a:ln w="19050">
            <a:solidFill>
              <a:srgbClr val="EEF3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49808" y="11910237"/>
            <a:ext cx="2272284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137333"/>
                </a:solidFill>
                <a:latin typeface="IBM Plex Sans"/>
              </a:rPr>
              <a:t>1.000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9808" y="12824637"/>
            <a:ext cx="2272284" cy="11835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100" b="0">
                <a:solidFill>
                  <a:srgbClr val="5F6368"/>
                </a:solidFill>
                <a:latin typeface="IBM Plex Sans"/>
              </a:rPr>
              <a:t>success at</a:t>
            </a:r>
          </a:p>
          <a:p>
            <a:pPr algn="ctr">
              <a:lnSpc>
                <a:spcPct val="105000"/>
              </a:lnSpc>
            </a:pPr>
            <a:r>
              <a:rPr sz="2100" b="0">
                <a:solidFill>
                  <a:srgbClr val="5F6368"/>
                </a:solidFill>
                <a:latin typeface="IBM Plex Sans"/>
              </a:rPr>
              <a:t>L = 8 and full BPTT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332988" y="11672493"/>
            <a:ext cx="2491740" cy="2157984"/>
          </a:xfrm>
          <a:prstGeom prst="rect">
            <a:avLst/>
          </a:prstGeom>
          <a:solidFill>
            <a:srgbClr val="EEF3FA"/>
          </a:solidFill>
          <a:ln w="19050">
            <a:solidFill>
              <a:srgbClr val="EEF3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42716" y="11910237"/>
            <a:ext cx="2272284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C5221F"/>
                </a:solidFill>
                <a:latin typeface="IBM Plex Sans"/>
              </a:rPr>
              <a:t>0.500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42716" y="12824637"/>
            <a:ext cx="2272284" cy="8195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100" b="0">
                <a:solidFill>
                  <a:srgbClr val="5F6368"/>
                </a:solidFill>
                <a:latin typeface="IBM Plex Sans"/>
              </a:rPr>
              <a:t>success at L = 4</a:t>
            </a:r>
          </a:p>
          <a:p>
            <a:pPr algn="ctr">
              <a:lnSpc>
                <a:spcPct val="105000"/>
              </a:lnSpc>
            </a:pPr>
            <a:r>
              <a:rPr sz="2100" b="0">
                <a:solidFill>
                  <a:srgbClr val="5F6368"/>
                </a:solidFill>
                <a:latin typeface="IBM Plex Sans"/>
              </a:rPr>
              <a:t>(chance)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025896" y="11672493"/>
            <a:ext cx="2491740" cy="2157984"/>
          </a:xfrm>
          <a:prstGeom prst="rect">
            <a:avLst/>
          </a:prstGeom>
          <a:solidFill>
            <a:srgbClr val="EEF3FA"/>
          </a:solidFill>
          <a:ln w="19050">
            <a:solidFill>
              <a:srgbClr val="EEF3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35624" y="11910237"/>
            <a:ext cx="2272284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B5394"/>
                </a:solidFill>
                <a:latin typeface="IBM Plex Sans"/>
              </a:rPr>
              <a:t>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35624" y="12824637"/>
            <a:ext cx="2272284" cy="8195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100" b="0">
                <a:solidFill>
                  <a:srgbClr val="5F6368"/>
                </a:solidFill>
                <a:latin typeface="IBM Plex Sans"/>
              </a:rPr>
              <a:t>steps of reach</a:t>
            </a:r>
          </a:p>
          <a:p>
            <a:pPr algn="ctr">
              <a:lnSpc>
                <a:spcPct val="105000"/>
              </a:lnSpc>
            </a:pPr>
            <a:r>
              <a:rPr sz="2100" b="0">
                <a:solidFill>
                  <a:srgbClr val="5F6368"/>
                </a:solidFill>
                <a:latin typeface="IBM Plex Sans"/>
              </a:rPr>
              <a:t>suffice (4 do not)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718804" y="11672493"/>
            <a:ext cx="2491740" cy="2157984"/>
          </a:xfrm>
          <a:prstGeom prst="rect">
            <a:avLst/>
          </a:prstGeom>
          <a:solidFill>
            <a:srgbClr val="EEF3FA"/>
          </a:solidFill>
          <a:ln w="19050">
            <a:solidFill>
              <a:srgbClr val="EEF3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828532" y="11910237"/>
            <a:ext cx="2272284" cy="883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800" b="1">
                <a:solidFill>
                  <a:srgbClr val="0B5394"/>
                </a:solidFill>
                <a:latin typeface="IBM Plex Sans"/>
              </a:rPr>
              <a:t>8×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28532" y="12824637"/>
            <a:ext cx="2272284" cy="8195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2100" b="0">
                <a:solidFill>
                  <a:srgbClr val="5F6368"/>
                </a:solidFill>
                <a:latin typeface="IBM Plex Sans"/>
              </a:rPr>
              <a:t>the VRAM it costs</a:t>
            </a:r>
          </a:p>
          <a:p>
            <a:pPr algn="ctr">
              <a:lnSpc>
                <a:spcPct val="105000"/>
              </a:lnSpc>
            </a:pPr>
            <a:r>
              <a:rPr sz="2100" b="0">
                <a:solidFill>
                  <a:srgbClr val="5F6368"/>
                </a:solidFill>
                <a:latin typeface="IBM Plex Sans"/>
              </a:rPr>
              <a:t>(the time: none)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0080" y="14068221"/>
            <a:ext cx="10570464" cy="9235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>
                <a:solidFill>
                  <a:srgbClr val="5F6368"/>
                </a:solidFill>
                <a:latin typeface="IBM Plex Sans"/>
              </a:rPr>
              <a:t>5 studies × 50 trials × 5 seeds = </a:t>
            </a:r>
            <a:r>
              <a:rPr sz="2400" b="1">
                <a:solidFill>
                  <a:srgbClr val="5F6368"/>
                </a:solidFill>
                <a:latin typeface="IBM Plex Sans"/>
              </a:rPr>
              <a:t>250 training runs</a:t>
            </a:r>
            <a:r>
              <a:rPr sz="2400" b="0">
                <a:solidFill>
                  <a:srgbClr val="5F6368"/>
                </a:solidFill>
                <a:latin typeface="IBM Plex Sans"/>
              </a:rPr>
              <a:t>, ≈ 236 GPU-hours on one RTX 3060 Laptop (12 GB).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1878056" y="6327648"/>
            <a:ext cx="18077688" cy="13737031"/>
          </a:xfrm>
          <a:prstGeom prst="rect">
            <a:avLst/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878056" y="6327648"/>
            <a:ext cx="18077688" cy="987552"/>
          </a:xfrm>
          <a:prstGeom prst="rect">
            <a:avLst/>
          </a:prstGeom>
          <a:solidFill>
            <a:srgbClr val="0B5394"/>
          </a:solidFill>
          <a:ln w="19050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98448" rIns="0" tIns="0" bIns="0"/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IBM Plex Sans"/>
              </a:rPr>
              <a:t>Motivation &amp; Problem Setting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2033504" y="6432804"/>
            <a:ext cx="777240" cy="777240"/>
          </a:xfrm>
          <a:prstGeom prst="rect">
            <a:avLst/>
          </a:prstGeom>
          <a:solidFill>
            <a:srgbClr val="F3F3F3"/>
          </a:solidFill>
          <a:ln w="1905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4200" b="1">
                <a:solidFill>
                  <a:srgbClr val="0B5394"/>
                </a:solidFill>
                <a:latin typeface="IBM Plex Sans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2262104" y="7571232"/>
            <a:ext cx="17309592" cy="30911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0">
                <a:solidFill>
                  <a:srgbClr val="202124"/>
                </a:solidFill>
                <a:latin typeface="IBM Plex Sans"/>
              </a:rPr>
              <a:t>In a POMDP the optimal action depends on information that has left the observation. The usual remedy is a recurrent policy; the usual concession is to </a:t>
            </a:r>
            <a:r>
              <a:rPr sz="2700" b="1">
                <a:solidFill>
                  <a:srgbClr val="202124"/>
                </a:solidFill>
                <a:latin typeface="IBM Plex Sans"/>
              </a:rPr>
              <a:t>truncate the backward pass to </a:t>
            </a:r>
            <a:r>
              <a:rPr sz="2700" b="1">
                <a:solidFill>
                  <a:srgbClr val="202124"/>
                </a:solidFill>
                <a:latin typeface="IBM Plex Mono"/>
              </a:rPr>
              <a:t>L</a:t>
            </a:r>
            <a:r>
              <a:rPr sz="2700" b="1">
                <a:solidFill>
                  <a:srgbClr val="202124"/>
                </a:solidFill>
                <a:latin typeface="IBM Plex Sans"/>
              </a:rPr>
              <a:t> steps</a:t>
            </a:r>
            <a:r>
              <a:rPr sz="2700" b="0">
                <a:solidFill>
                  <a:srgbClr val="202124"/>
                </a:solidFill>
                <a:latin typeface="IBM Plex Sans"/>
              </a:rPr>
              <a:t>, a value inherited in silence from whatever codebase one starts from.</a:t>
            </a:r>
          </a:p>
          <a:p>
            <a:pPr algn="l">
              <a:lnSpc>
                <a:spcPct val="106000"/>
              </a:lnSpc>
              <a:spcBef>
                <a:spcPts val="1296"/>
              </a:spcBef>
            </a:pPr>
            <a:r>
              <a:rPr sz="2700" b="0">
                <a:solidFill>
                  <a:srgbClr val="202124"/>
                </a:solidFill>
                <a:latin typeface="IBM Plex Mono"/>
              </a:rPr>
              <a:t>MiniGrid-MemoryS17Random-v0</a:t>
            </a:r>
            <a:r>
              <a:rPr sz="2700" b="0">
                <a:solidFill>
                  <a:srgbClr val="202124"/>
                </a:solidFill>
                <a:latin typeface="IBM Plex Sans"/>
              </a:rPr>
              <a:t> makes it measurable. A cue visible only in the west room decides which prong of the T-junction at the far end pays, and the 7 × 7 egocentric view makes both prongs identical: a </a:t>
            </a:r>
            <a:r>
              <a:rPr sz="2700" b="1">
                <a:solidFill>
                  <a:srgbClr val="202124"/>
                </a:solidFill>
                <a:latin typeface="IBM Plex Sans"/>
              </a:rPr>
              <a:t>memoryless policy is capped at 0.5</a:t>
            </a:r>
            <a:r>
              <a:rPr sz="2700" b="0">
                <a:solidFill>
                  <a:srgbClr val="202124"/>
                </a:solidFill>
                <a:latin typeface="IBM Plex Sans"/>
              </a:rPr>
              <a:t>, so the gap from 0.5 to 1.0 is exactly the memory a run has acquired.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262104" y="10845241"/>
            <a:ext cx="17309592" cy="2282190"/>
          </a:xfrm>
          <a:prstGeom prst="rect">
            <a:avLst/>
          </a:prstGeom>
          <a:solidFill>
            <a:srgbClr val="EEF3FA"/>
          </a:solidFill>
          <a:ln w="19050">
            <a:solidFill>
              <a:srgbClr val="EEF3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2481560" y="11064697"/>
            <a:ext cx="16870680" cy="19347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0B5394"/>
                </a:solidFill>
                <a:latin typeface="IBM Plex Sans"/>
              </a:rPr>
              <a:t>Q1</a:t>
            </a:r>
            <a:r>
              <a:rPr sz="2500" b="0">
                <a:solidFill>
                  <a:srgbClr val="0B5394"/>
                </a:solidFill>
                <a:latin typeface="IBM Plex Sans"/>
              </a:rPr>
              <a:t> — How far back must the gradient reach? Carrying </a:t>
            </a:r>
            <a:r>
              <a:rPr sz="2500" b="0">
                <a:solidFill>
                  <a:srgbClr val="0B5394"/>
                </a:solidFill>
                <a:latin typeface="IBM Plex Mono"/>
              </a:rPr>
              <a:t>h</a:t>
            </a:r>
            <a:r>
              <a:rPr sz="2500" b="0">
                <a:solidFill>
                  <a:srgbClr val="0B5394"/>
                </a:solidFill>
                <a:latin typeface="IBM Plex Sans"/>
              </a:rPr>
              <a:t> forward is free at any </a:t>
            </a:r>
            <a:r>
              <a:rPr sz="2500" b="0">
                <a:solidFill>
                  <a:srgbClr val="0B5394"/>
                </a:solidFill>
                <a:latin typeface="IBM Plex Mono"/>
              </a:rPr>
              <a:t>L</a:t>
            </a:r>
            <a:r>
              <a:rPr sz="2500" b="0">
                <a:solidFill>
                  <a:srgbClr val="0B5394"/>
                </a:solidFill>
                <a:latin typeface="IBM Plex Sans"/>
              </a:rPr>
              <a:t>, so is a short window enough to </a:t>
            </a:r>
            <a:r>
              <a:rPr sz="2500" b="1">
                <a:solidFill>
                  <a:srgbClr val="0B5394"/>
                </a:solidFill>
                <a:latin typeface="IBM Plex Sans"/>
              </a:rPr>
              <a:t>learn what to store</a:t>
            </a:r>
            <a:r>
              <a:rPr sz="2500" b="0">
                <a:solidFill>
                  <a:srgbClr val="0B5394"/>
                </a:solidFill>
                <a:latin typeface="IBM Plex Sans"/>
              </a:rPr>
              <a:t>?</a:t>
            </a:r>
          </a:p>
          <a:p>
            <a:pPr algn="l">
              <a:lnSpc>
                <a:spcPct val="105000"/>
              </a:lnSpc>
              <a:spcBef>
                <a:spcPts val="864"/>
              </a:spcBef>
            </a:pPr>
            <a:r>
              <a:rPr sz="2500" b="1">
                <a:solidFill>
                  <a:srgbClr val="0B5394"/>
                </a:solidFill>
                <a:latin typeface="IBM Plex Sans"/>
              </a:rPr>
              <a:t>Q2</a:t>
            </a:r>
            <a:r>
              <a:rPr sz="2500" b="0">
                <a:solidFill>
                  <a:srgbClr val="0B5394"/>
                </a:solidFill>
                <a:latin typeface="IBM Plex Sans"/>
              </a:rPr>
              <a:t> — What does that reach cost in time and in VRAM? A shorter window is intuitively cheaper — we check whether it is.</a:t>
            </a:r>
          </a:p>
        </p:txBody>
      </p:sp>
      <p:pic>
        <p:nvPicPr>
          <p:cNvPr id="109" name="Picture 108" descr="task_memory_s1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156180" y="13438327"/>
            <a:ext cx="11521440" cy="6315456"/>
          </a:xfrm>
          <a:prstGeom prst="rect">
            <a:avLst/>
          </a:prstGeom>
        </p:spPr>
      </p:pic>
      <p:sp>
        <p:nvSpPr>
          <p:cNvPr id="122" name="Rectangle 121"/>
          <p:cNvSpPr/>
          <p:nvPr/>
        </p:nvSpPr>
        <p:spPr>
          <a:xfrm>
            <a:off x="256032" y="15794291"/>
            <a:ext cx="11338560" cy="18102783"/>
          </a:xfrm>
          <a:prstGeom prst="rect">
            <a:avLst/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56032" y="15794291"/>
            <a:ext cx="11338560" cy="987552"/>
          </a:xfrm>
          <a:prstGeom prst="rect">
            <a:avLst/>
          </a:prstGeom>
          <a:solidFill>
            <a:srgbClr val="0B5394"/>
          </a:solidFill>
          <a:ln w="19050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98448" rIns="0" tIns="0" bIns="0"/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IBM Plex Sans"/>
              </a:rPr>
              <a:t>Approach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11480" y="15899447"/>
            <a:ext cx="777240" cy="777240"/>
          </a:xfrm>
          <a:prstGeom prst="rect">
            <a:avLst/>
          </a:prstGeom>
          <a:solidFill>
            <a:srgbClr val="F3F3F3"/>
          </a:solidFill>
          <a:ln w="1905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4200" b="1">
                <a:solidFill>
                  <a:srgbClr val="0B5394"/>
                </a:solidFill>
                <a:latin typeface="IBM Plex Sans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40080" y="17129315"/>
            <a:ext cx="10570464" cy="652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B5394"/>
                </a:solidFill>
                <a:latin typeface="IBM Plex Sans"/>
              </a:rPr>
              <a:t>Network</a:t>
            </a:r>
          </a:p>
        </p:txBody>
      </p:sp>
      <p:pic>
        <p:nvPicPr>
          <p:cNvPr id="114" name="Picture 113" descr="model_architectu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36192" y="17836959"/>
            <a:ext cx="8778240" cy="2796032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640080" y="20706143"/>
            <a:ext cx="10570464" cy="12875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300" b="0">
                <a:solidFill>
                  <a:srgbClr val="5F6368"/>
                </a:solidFill>
                <a:latin typeface="IBM Plex Sans"/>
              </a:rPr>
              <a:t>7 × 7 × 3 view → one-hot (980) → encoder → linear actor + linear critic. The encoder is the </a:t>
            </a:r>
            <a:r>
              <a:rPr sz="2300" b="1">
                <a:solidFill>
                  <a:srgbClr val="5F6368"/>
                </a:solidFill>
                <a:latin typeface="IBM Plex Sans"/>
              </a:rPr>
              <a:t>only</a:t>
            </a:r>
            <a:r>
              <a:rPr sz="2300" b="0">
                <a:solidFill>
                  <a:srgbClr val="5F6368"/>
                </a:solidFill>
                <a:latin typeface="IBM Plex Sans"/>
              </a:rPr>
              <a:t> difference between arms: an MLP (memoryless) or a single GRU layer carrying </a:t>
            </a:r>
            <a:r>
              <a:rPr sz="2300" b="0">
                <a:solidFill>
                  <a:srgbClr val="5F6368"/>
                </a:solidFill>
                <a:latin typeface="IBM Plex Mono"/>
              </a:rPr>
              <a:t>h</a:t>
            </a:r>
            <a:r>
              <a:rPr sz="2300" b="0">
                <a:solidFill>
                  <a:srgbClr val="5F6368"/>
                </a:solidFill>
                <a:latin typeface="IBM Plex Sans"/>
              </a:rPr>
              <a:t> forward.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40080" y="22268052"/>
            <a:ext cx="10570464" cy="652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B5394"/>
                </a:solidFill>
                <a:latin typeface="IBM Plex Sans"/>
              </a:rPr>
              <a:t>The knob under study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40080" y="22975696"/>
            <a:ext cx="10570464" cy="23665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0">
                <a:solidFill>
                  <a:srgbClr val="202124"/>
                </a:solidFill>
                <a:latin typeface="IBM Plex Sans"/>
              </a:rPr>
              <a:t>Before every update the rollout is cut at each </a:t>
            </a:r>
            <a:r>
              <a:rPr sz="2600" b="1">
                <a:solidFill>
                  <a:srgbClr val="202124"/>
                </a:solidFill>
                <a:latin typeface="IBM Plex Sans"/>
              </a:rPr>
              <a:t>episode boundary and every </a:t>
            </a:r>
            <a:r>
              <a:rPr sz="2600" b="1">
                <a:solidFill>
                  <a:srgbClr val="202124"/>
                </a:solidFill>
                <a:latin typeface="IBM Plex Mono"/>
              </a:rPr>
              <a:t>L</a:t>
            </a:r>
            <a:r>
              <a:rPr sz="2600" b="1">
                <a:solidFill>
                  <a:srgbClr val="202124"/>
                </a:solidFill>
                <a:latin typeface="IBM Plex Sans"/>
              </a:rPr>
              <a:t> steps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. A chunk starting mid-episode is seeded with the hidden state the rollout recorded there, so the forward pass still sees the whole episode and </a:t>
            </a:r>
            <a:r>
              <a:rPr sz="2600" b="1">
                <a:solidFill>
                  <a:srgbClr val="202124"/>
                </a:solidFill>
                <a:latin typeface="IBM Plex Sans"/>
              </a:rPr>
              <a:t>only the backward pass is shortened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 — every GRU arm carries identical information forward.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40080" y="25525094"/>
            <a:ext cx="10570464" cy="3564826"/>
          </a:xfrm>
          <a:prstGeom prst="rect">
            <a:avLst/>
          </a:prstGeom>
          <a:solidFill>
            <a:srgbClr val="F3F3F3"/>
          </a:solidFill>
          <a:ln w="1905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77824" y="25762838"/>
            <a:ext cx="10094976" cy="31807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202124"/>
                </a:solidFill>
                <a:latin typeface="IBM Plex Sans"/>
              </a:rPr>
              <a:t>One PPO iteration</a:t>
            </a:r>
          </a:p>
          <a:p>
            <a:pPr algn="l">
              <a:lnSpc>
                <a:spcPct val="105000"/>
              </a:lnSpc>
              <a:spcBef>
                <a:spcPts val="1008"/>
              </a:spcBef>
            </a:pPr>
            <a:r>
              <a:rPr sz="2200" b="0">
                <a:solidFill>
                  <a:srgbClr val="202124"/>
                </a:solidFill>
                <a:latin typeface="IBM Plex Sans"/>
              </a:rPr>
              <a:t>1  collect W = 32 workers × T = 361 steps, recording (o, a, log π, V, r, d, </a:t>
            </a:r>
            <a:r>
              <a:rPr sz="2200" b="1">
                <a:solidFill>
                  <a:srgbClr val="202124"/>
                </a:solidFill>
                <a:latin typeface="IBM Plex Sans"/>
              </a:rPr>
              <a:t>h</a:t>
            </a:r>
            <a:r>
              <a:rPr sz="2200" b="0">
                <a:solidFill>
                  <a:srgbClr val="202124"/>
                </a:solidFill>
                <a:latin typeface="IBM Plex Sans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432"/>
              </a:spcBef>
            </a:pPr>
            <a:r>
              <a:rPr sz="2200" b="0">
                <a:solidFill>
                  <a:srgbClr val="202124"/>
                </a:solidFill>
                <a:latin typeface="IBM Plex Sans"/>
              </a:rPr>
              <a:t>2  GAE over the </a:t>
            </a:r>
            <a:r>
              <a:rPr sz="2200" b="1">
                <a:solidFill>
                  <a:srgbClr val="202124"/>
                </a:solidFill>
                <a:latin typeface="IBM Plex Sans"/>
              </a:rPr>
              <a:t>whole</a:t>
            </a:r>
            <a:r>
              <a:rPr sz="2200" b="0">
                <a:solidFill>
                  <a:srgbClr val="202124"/>
                </a:solidFill>
                <a:latin typeface="IBM Plex Sans"/>
              </a:rPr>
              <a:t> rollout, before any split; standardise Â</a:t>
            </a:r>
          </a:p>
          <a:p>
            <a:pPr algn="l">
              <a:lnSpc>
                <a:spcPct val="105000"/>
              </a:lnSpc>
              <a:spcBef>
                <a:spcPts val="432"/>
              </a:spcBef>
            </a:pPr>
            <a:r>
              <a:rPr sz="2200" b="0">
                <a:solidFill>
                  <a:srgbClr val="B05A00"/>
                </a:solidFill>
                <a:latin typeface="IBM Plex Sans"/>
              </a:rPr>
              <a:t>3  </a:t>
            </a:r>
            <a:r>
              <a:rPr sz="2200" b="1">
                <a:solidFill>
                  <a:srgbClr val="B05A00"/>
                </a:solidFill>
                <a:latin typeface="IBM Plex Sans"/>
              </a:rPr>
              <a:t>cut into chunks of ≤ L steps, each seeded with its stored h</a:t>
            </a:r>
          </a:p>
          <a:p>
            <a:pPr algn="l">
              <a:lnSpc>
                <a:spcPct val="105000"/>
              </a:lnSpc>
              <a:spcBef>
                <a:spcPts val="432"/>
              </a:spcBef>
            </a:pPr>
            <a:r>
              <a:rPr sz="2200" b="0">
                <a:solidFill>
                  <a:srgbClr val="202124"/>
                </a:solidFill>
                <a:latin typeface="IBM Plex Sans"/>
              </a:rPr>
              <a:t>4  3 shuffled epochs of the clipped PPO loss; padding never enters it</a:t>
            </a:r>
          </a:p>
          <a:p>
            <a:pPr algn="l">
              <a:lnSpc>
                <a:spcPct val="105000"/>
              </a:lnSpc>
              <a:spcBef>
                <a:spcPts val="864"/>
              </a:spcBef>
            </a:pPr>
            <a:r>
              <a:rPr sz="2100" b="0">
                <a:solidFill>
                  <a:srgbClr val="5F6368"/>
                </a:solidFill>
                <a:latin typeface="IBM Plex Sans"/>
              </a:rPr>
              <a:t>L = ∞ (full BPTT) cuts at episode boundaries only; a smaller L means more, shorter sequences — ⌈T/L⌉ of them.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" y="29473969"/>
            <a:ext cx="10570464" cy="6527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0B5394"/>
                </a:solidFill>
                <a:latin typeface="IBM Plex Sans"/>
              </a:rPr>
              <a:t>Tuning protocol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40080" y="30181613"/>
            <a:ext cx="10570464" cy="349600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56032" marL="256032">
              <a:lnSpc>
                <a:spcPct val="106000"/>
              </a:lnSpc>
            </a:pPr>
            <a:r>
              <a:rPr sz="2600" b="0">
                <a:solidFill>
                  <a:srgbClr val="202124"/>
                </a:solidFill>
                <a:latin typeface="IBM Plex Sans"/>
              </a:rPr>
              <a:t>• One Optuna study </a:t>
            </a:r>
            <a:r>
              <a:rPr sz="2600" b="1">
                <a:solidFill>
                  <a:srgbClr val="202124"/>
                </a:solidFill>
                <a:latin typeface="IBM Plex Sans"/>
              </a:rPr>
              <a:t>per arm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: 50 TPE trials over </a:t>
            </a:r>
            <a:r>
              <a:rPr sz="2600" b="1">
                <a:solidFill>
                  <a:srgbClr val="202124"/>
                </a:solidFill>
                <a:latin typeface="IBM Plex Sans"/>
              </a:rPr>
              <a:t>identical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 ranges — no arm is judged on another's settings.</a:t>
            </a:r>
          </a:p>
          <a:p>
            <a:pPr algn="l" indent="-256032" marL="256032">
              <a:lnSpc>
                <a:spcPct val="106000"/>
              </a:lnSpc>
              <a:spcBef>
                <a:spcPts val="864"/>
              </a:spcBef>
            </a:pPr>
            <a:r>
              <a:rPr sz="2600" b="0">
                <a:solidFill>
                  <a:srgbClr val="202124"/>
                </a:solidFill>
                <a:latin typeface="IBM Plex Sans"/>
              </a:rPr>
              <a:t>• Each trial trains the same 5 seeds for 1000 iterations and is scored </a:t>
            </a:r>
            <a:r>
              <a:rPr sz="2600" b="1">
                <a:solidFill>
                  <a:srgbClr val="202124"/>
                </a:solidFill>
                <a:latin typeface="IBM Plex Sans"/>
              </a:rPr>
              <a:t>mean − std across seeds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 on 50 held-out mazes.</a:t>
            </a:r>
          </a:p>
          <a:p>
            <a:pPr algn="l" indent="-256032" marL="256032">
              <a:lnSpc>
                <a:spcPct val="106000"/>
              </a:lnSpc>
              <a:spcBef>
                <a:spcPts val="864"/>
              </a:spcBef>
            </a:pPr>
            <a:r>
              <a:rPr sz="2600" b="0">
                <a:solidFill>
                  <a:srgbClr val="202124"/>
                </a:solidFill>
                <a:latin typeface="IBM Plex Sans"/>
              </a:rPr>
              <a:t>• Nothing that buys compute is searchable; the minibatch size is set by a VRAM probe, so every arm is measured at the </a:t>
            </a:r>
            <a:r>
              <a:rPr sz="2600" b="1">
                <a:solidFill>
                  <a:srgbClr val="202124"/>
                </a:solidFill>
                <a:latin typeface="IBM Plex Sans"/>
              </a:rPr>
              <a:t>same memory budget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.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11878056" y="20356073"/>
            <a:ext cx="18077688" cy="11507217"/>
          </a:xfrm>
          <a:prstGeom prst="rect">
            <a:avLst/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1878056" y="20356073"/>
            <a:ext cx="18077688" cy="987552"/>
          </a:xfrm>
          <a:prstGeom prst="rect">
            <a:avLst/>
          </a:prstGeom>
          <a:solidFill>
            <a:srgbClr val="0B5394"/>
          </a:solidFill>
          <a:ln w="19050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98448" rIns="0" tIns="0" bIns="0"/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IBM Plex Sans"/>
              </a:rPr>
              <a:t>Results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12033504" y="20461229"/>
            <a:ext cx="777240" cy="777240"/>
          </a:xfrm>
          <a:prstGeom prst="rect">
            <a:avLst/>
          </a:prstGeom>
          <a:solidFill>
            <a:srgbClr val="F3F3F3"/>
          </a:solidFill>
          <a:ln w="1905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4200" b="1">
                <a:solidFill>
                  <a:srgbClr val="0B5394"/>
                </a:solidFill>
                <a:latin typeface="IBM Plex Sans"/>
              </a:rPr>
              <a:t>4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2262104" y="21599657"/>
            <a:ext cx="17309592" cy="38100"/>
          </a:xfrm>
          <a:prstGeom prst="rect">
            <a:avLst/>
          </a:prstGeom>
          <a:solidFill>
            <a:srgbClr val="0B5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2316968" y="21755105"/>
            <a:ext cx="3959352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0B5394"/>
                </a:solidFill>
                <a:latin typeface="IBM Plex Sans"/>
              </a:rPr>
              <a:t>arm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386047" y="21755105"/>
            <a:ext cx="26791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0B5394"/>
                </a:solidFill>
                <a:latin typeface="IBM Plex Sans"/>
              </a:rPr>
              <a:t>return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9174968" y="21755105"/>
            <a:ext cx="26791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0B5394"/>
                </a:solidFill>
                <a:latin typeface="IBM Plex Sans"/>
              </a:rPr>
              <a:t>success rate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963888" y="21755105"/>
            <a:ext cx="17647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0B5394"/>
                </a:solidFill>
                <a:latin typeface="IBM Plex Sans"/>
              </a:rPr>
              <a:t>steps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3838408" y="21755105"/>
            <a:ext cx="2130552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0B5394"/>
                </a:solidFill>
                <a:latin typeface="IBM Plex Sans"/>
              </a:rPr>
              <a:t>minibatch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6078688" y="21755105"/>
            <a:ext cx="1609343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0B5394"/>
                </a:solidFill>
                <a:latin typeface="IBM Plex Sans"/>
              </a:rPr>
              <a:t>time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2262104" y="22349465"/>
            <a:ext cx="17309592" cy="19050"/>
          </a:xfrm>
          <a:prstGeom prst="rect">
            <a:avLst/>
          </a:prstGeom>
          <a:solidFill>
            <a:srgbClr val="0B5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2316968" y="22495769"/>
            <a:ext cx="3959352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Sans"/>
              </a:rPr>
              <a:t>MLP (memoryless)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6386047" y="22495769"/>
            <a:ext cx="26791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0.556 ± 0.029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9174968" y="22495769"/>
            <a:ext cx="26791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0.592 ± 0.027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1963888" y="22495769"/>
            <a:ext cx="17647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24.3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3838408" y="22495769"/>
            <a:ext cx="2130552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1024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6078688" y="22495769"/>
            <a:ext cx="1609343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1.3 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316968" y="23099273"/>
            <a:ext cx="3959352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Sans"/>
              </a:rPr>
              <a:t>GRU, L = 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6386047" y="23099273"/>
            <a:ext cx="26791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0.573 ± 0.064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9174968" y="23099273"/>
            <a:ext cx="26791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0.588 ± 0.068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1963888" y="23099273"/>
            <a:ext cx="17647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9.8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3838408" y="23099273"/>
            <a:ext cx="2130552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4096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6078688" y="23099273"/>
            <a:ext cx="1609343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2.6 h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2316968" y="23702777"/>
            <a:ext cx="3959352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Sans"/>
              </a:rPr>
              <a:t>GRU, L = 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6386047" y="23702777"/>
            <a:ext cx="26791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0.492 ± 0.001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9174968" y="23702777"/>
            <a:ext cx="26791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0.500 ± 0.000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963888" y="23702777"/>
            <a:ext cx="17647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7.0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3838408" y="23702777"/>
            <a:ext cx="2130552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4096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6078688" y="23702777"/>
            <a:ext cx="1609343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1.6 h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12262104" y="24214841"/>
            <a:ext cx="17309592" cy="603504"/>
          </a:xfrm>
          <a:prstGeom prst="rect">
            <a:avLst/>
          </a:prstGeom>
          <a:solidFill>
            <a:srgbClr val="EEF3FA"/>
          </a:solidFill>
          <a:ln w="19050">
            <a:solidFill>
              <a:srgbClr val="EEF3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2316968" y="24306281"/>
            <a:ext cx="3959352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Sans"/>
              </a:rPr>
              <a:t>GRU, L = 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6386047" y="24306281"/>
            <a:ext cx="26791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137333"/>
                </a:solidFill>
                <a:latin typeface="IBM Plex Mono"/>
              </a:rPr>
              <a:t>0.958 ± 0.004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9174968" y="24306281"/>
            <a:ext cx="26791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137333"/>
                </a:solidFill>
                <a:latin typeface="IBM Plex Mono"/>
              </a:rPr>
              <a:t>1.000 ± 0.000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963888" y="24306281"/>
            <a:ext cx="17647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16.8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3838408" y="24306281"/>
            <a:ext cx="2130552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4096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6078688" y="24306281"/>
            <a:ext cx="1609343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2.0 h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2262104" y="24818345"/>
            <a:ext cx="17309592" cy="603504"/>
          </a:xfrm>
          <a:prstGeom prst="rect">
            <a:avLst/>
          </a:prstGeom>
          <a:solidFill>
            <a:srgbClr val="EEF3FA"/>
          </a:solidFill>
          <a:ln w="19050">
            <a:solidFill>
              <a:srgbClr val="EEF3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2316968" y="24909785"/>
            <a:ext cx="3959352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Sans"/>
              </a:rPr>
              <a:t>GRU, full BPTT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6386047" y="24909785"/>
            <a:ext cx="26791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137333"/>
                </a:solidFill>
                <a:latin typeface="IBM Plex Mono"/>
              </a:rPr>
              <a:t>0.958 ± 0.002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9174968" y="24909785"/>
            <a:ext cx="26791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137333"/>
                </a:solidFill>
                <a:latin typeface="IBM Plex Mono"/>
              </a:rPr>
              <a:t>1.000 ± 0.000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963888" y="24909785"/>
            <a:ext cx="1764791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16.8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3838408" y="24909785"/>
            <a:ext cx="2130552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0">
                <a:solidFill>
                  <a:srgbClr val="202124"/>
                </a:solidFill>
                <a:latin typeface="IBM Plex Mono"/>
              </a:rPr>
              <a:t>512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6078688" y="24909785"/>
            <a:ext cx="1609343" cy="5041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137333"/>
                </a:solidFill>
                <a:latin typeface="IBM Plex Mono"/>
              </a:rPr>
              <a:t>1.3 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2262104" y="25495001"/>
            <a:ext cx="17309592" cy="38100"/>
          </a:xfrm>
          <a:prstGeom prst="rect">
            <a:avLst/>
          </a:prstGeom>
          <a:solidFill>
            <a:srgbClr val="0B53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2262104" y="25641305"/>
            <a:ext cx="17309592" cy="47282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5F6368"/>
                </a:solidFill>
                <a:latin typeface="IBM Plex Sans"/>
              </a:rPr>
              <a:t>Winning trial per study, averaged over its five seeds; ± is the spread across seeds. No setting produced an intermediate score.</a:t>
            </a:r>
          </a:p>
        </p:txBody>
      </p:sp>
      <p:pic>
        <p:nvPicPr>
          <p:cNvPr id="167" name="Picture 166" descr="compare_curve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698980" y="26370158"/>
            <a:ext cx="12435840" cy="4309746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12262104" y="30789632"/>
            <a:ext cx="17309592" cy="8542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>
                <a:solidFill>
                  <a:srgbClr val="5F6368"/>
                </a:solidFill>
                <a:latin typeface="IBM Plex Sans"/>
              </a:rPr>
              <a:t>Mean over 5 seeds, band at ± 1 std, dashed line at chance. The two solving arms separate before iteration 400; the three failing arms never leave the chance line.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11878056" y="32154685"/>
            <a:ext cx="18077688" cy="10383202"/>
          </a:xfrm>
          <a:prstGeom prst="rect">
            <a:avLst/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1878056" y="32154685"/>
            <a:ext cx="18077688" cy="987552"/>
          </a:xfrm>
          <a:prstGeom prst="rect">
            <a:avLst/>
          </a:prstGeom>
          <a:solidFill>
            <a:srgbClr val="0B5394"/>
          </a:solidFill>
          <a:ln w="19050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98448" rIns="0" tIns="0" bIns="0"/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IBM Plex Sans"/>
              </a:rPr>
              <a:t>Key Insights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2033504" y="32259841"/>
            <a:ext cx="777240" cy="777240"/>
          </a:xfrm>
          <a:prstGeom prst="rect">
            <a:avLst/>
          </a:prstGeom>
          <a:solidFill>
            <a:srgbClr val="F3F3F3"/>
          </a:solidFill>
          <a:ln w="1905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4200" b="1">
                <a:solidFill>
                  <a:srgbClr val="0B5394"/>
                </a:solidFill>
                <a:latin typeface="IBM Plex Sans"/>
              </a:rPr>
              <a:t>5</a:t>
            </a:r>
          </a:p>
        </p:txBody>
      </p:sp>
      <p:sp>
        <p:nvSpPr>
          <p:cNvPr id="172" name="Oval 171"/>
          <p:cNvSpPr/>
          <p:nvPr/>
        </p:nvSpPr>
        <p:spPr>
          <a:xfrm>
            <a:off x="12262104" y="33434845"/>
            <a:ext cx="530352" cy="530352"/>
          </a:xfrm>
          <a:prstGeom prst="ellipse">
            <a:avLst/>
          </a:prstGeom>
          <a:solidFill>
            <a:srgbClr val="0B5394"/>
          </a:solidFill>
          <a:ln w="19050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IBM Plex Sans"/>
              </a:rPr>
              <a:t>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011912" y="33398269"/>
            <a:ext cx="16559784" cy="1391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202124"/>
                </a:solidFill>
                <a:latin typeface="IBM Plex Sans"/>
              </a:rPr>
              <a:t>Carrying </a:t>
            </a:r>
            <a:r>
              <a:rPr sz="2500" b="1">
                <a:solidFill>
                  <a:srgbClr val="202124"/>
                </a:solidFill>
                <a:latin typeface="IBM Plex Mono"/>
              </a:rPr>
              <a:t>h</a:t>
            </a:r>
            <a:r>
              <a:rPr sz="2500" b="1">
                <a:solidFill>
                  <a:srgbClr val="202124"/>
                </a:solidFill>
                <a:latin typeface="IBM Plex Sans"/>
              </a:rPr>
              <a:t> forward is not what matters.</a:t>
            </a:r>
          </a:p>
          <a:p>
            <a:pPr algn="l">
              <a:lnSpc>
                <a:spcPct val="105000"/>
              </a:lnSpc>
            </a:pPr>
            <a:r>
              <a:rPr sz="2500" b="0">
                <a:solidFill>
                  <a:srgbClr val="202124"/>
                </a:solidFill>
                <a:latin typeface="IBM Plex Sans"/>
              </a:rPr>
              <a:t>Every GRU arm does it identically, including the ones that fail. What separates them is whether the </a:t>
            </a:r>
            <a:r>
              <a:rPr sz="2500" b="1">
                <a:solidFill>
                  <a:srgbClr val="202124"/>
                </a:solidFill>
                <a:latin typeface="IBM Plex Sans"/>
              </a:rPr>
              <a:t>gradient</a:t>
            </a:r>
            <a:r>
              <a:rPr sz="2500" b="0">
                <a:solidFill>
                  <a:srgbClr val="202124"/>
                </a:solidFill>
                <a:latin typeface="IBM Plex Sans"/>
              </a:rPr>
              <a:t> reaches back to the observation that filled </a:t>
            </a:r>
            <a:r>
              <a:rPr sz="2500" b="0">
                <a:solidFill>
                  <a:srgbClr val="202124"/>
                </a:solidFill>
                <a:latin typeface="IBM Plex Mono"/>
              </a:rPr>
              <a:t>h</a:t>
            </a:r>
            <a:r>
              <a:rPr sz="2500" b="0">
                <a:solidFill>
                  <a:srgbClr val="202124"/>
                </a:solidFill>
                <a:latin typeface="IBM Plex Sans"/>
              </a:rPr>
              <a:t> — and reaching past 8 adds nothing.</a:t>
            </a:r>
          </a:p>
        </p:txBody>
      </p:sp>
      <p:sp>
        <p:nvSpPr>
          <p:cNvPr id="174" name="Oval 173"/>
          <p:cNvSpPr/>
          <p:nvPr/>
        </p:nvSpPr>
        <p:spPr>
          <a:xfrm>
            <a:off x="12262104" y="34954463"/>
            <a:ext cx="530352" cy="530352"/>
          </a:xfrm>
          <a:prstGeom prst="ellipse">
            <a:avLst/>
          </a:prstGeom>
          <a:solidFill>
            <a:srgbClr val="0B5394"/>
          </a:solidFill>
          <a:ln w="19050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IBM Plex Sans"/>
              </a:rPr>
              <a:t>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3011912" y="34917887"/>
            <a:ext cx="16559784" cy="225837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202124"/>
                </a:solidFill>
                <a:latin typeface="IBM Plex Sans"/>
              </a:rPr>
              <a:t>What has to fit inside </a:t>
            </a:r>
            <a:r>
              <a:rPr sz="2500" b="1">
                <a:solidFill>
                  <a:srgbClr val="202124"/>
                </a:solidFill>
                <a:latin typeface="IBM Plex Mono"/>
              </a:rPr>
              <a:t>L</a:t>
            </a:r>
            <a:r>
              <a:rPr sz="2500" b="1">
                <a:solidFill>
                  <a:srgbClr val="202124"/>
                </a:solidFill>
                <a:latin typeface="IBM Plex Sans"/>
              </a:rPr>
              <a:t> is the </a:t>
            </a:r>
            <a:r>
              <a:rPr sz="2500" b="1">
                <a:solidFill>
                  <a:srgbClr val="202124"/>
                </a:solidFill>
                <a:latin typeface="IBM Plex Sans"/>
              </a:rPr>
              <a:t>gap</a:t>
            </a:r>
            <a:r>
              <a:rPr sz="2500" b="1">
                <a:solidFill>
                  <a:srgbClr val="202124"/>
                </a:solidFill>
                <a:latin typeface="IBM Plex Sans"/>
              </a:rPr>
              <a:t>, not the episode.</a:t>
            </a:r>
          </a:p>
          <a:p>
            <a:pPr algn="l">
              <a:lnSpc>
                <a:spcPct val="105000"/>
              </a:lnSpc>
            </a:pPr>
            <a:r>
              <a:rPr sz="2500" b="0">
                <a:solidFill>
                  <a:srgbClr val="202124"/>
                </a:solidFill>
                <a:latin typeface="IBM Plex Sans"/>
              </a:rPr>
              <a:t>The gap is the number of actions between the agent's last sighting of the cue and its choice at the fork. By BFS over the environment's own visibility model, a gap ≤ 8 is attainable in </a:t>
            </a:r>
            <a:r>
              <a:rPr sz="2500" b="1">
                <a:solidFill>
                  <a:srgbClr val="202124"/>
                </a:solidFill>
                <a:latin typeface="IBM Plex Sans"/>
              </a:rPr>
              <a:t>62 %</a:t>
            </a:r>
            <a:r>
              <a:rPr sz="2500" b="0">
                <a:solidFill>
                  <a:srgbClr val="202124"/>
                </a:solidFill>
                <a:latin typeface="IBM Plex Sans"/>
              </a:rPr>
              <a:t> of mazes but a gap ≤ 4 in only </a:t>
            </a:r>
            <a:r>
              <a:rPr sz="2500" b="1">
                <a:solidFill>
                  <a:srgbClr val="202124"/>
                </a:solidFill>
                <a:latin typeface="IBM Plex Sans"/>
              </a:rPr>
              <a:t>26 %</a:t>
            </a:r>
            <a:r>
              <a:rPr sz="2500" b="0">
                <a:solidFill>
                  <a:srgbClr val="202124"/>
                </a:solidFill>
                <a:latin typeface="IBM Plex Sans"/>
              </a:rPr>
              <a:t>; replaying the checkpoints, cue and decision share a chunk in 16 % of the L = 8 agent's episodes and in </a:t>
            </a:r>
            <a:r>
              <a:rPr sz="2500" b="1">
                <a:solidFill>
                  <a:srgbClr val="202124"/>
                </a:solidFill>
                <a:latin typeface="IBM Plex Sans"/>
              </a:rPr>
              <a:t>0 of 50</a:t>
            </a:r>
            <a:r>
              <a:rPr sz="2500" b="0">
                <a:solidFill>
                  <a:srgbClr val="202124"/>
                </a:solidFill>
                <a:latin typeface="IBM Plex Sans"/>
              </a:rPr>
              <a:t> of the L = 4 agent's.</a:t>
            </a:r>
          </a:p>
        </p:txBody>
      </p:sp>
      <p:sp>
        <p:nvSpPr>
          <p:cNvPr id="176" name="Oval 175"/>
          <p:cNvSpPr/>
          <p:nvPr/>
        </p:nvSpPr>
        <p:spPr>
          <a:xfrm>
            <a:off x="12262104" y="37340856"/>
            <a:ext cx="530352" cy="530352"/>
          </a:xfrm>
          <a:prstGeom prst="ellipse">
            <a:avLst/>
          </a:prstGeom>
          <a:solidFill>
            <a:srgbClr val="0B5394"/>
          </a:solidFill>
          <a:ln w="19050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IBM Plex Sans"/>
              </a:rPr>
              <a:t>3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3011912" y="37304280"/>
            <a:ext cx="16559784" cy="13916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202124"/>
                </a:solidFill>
                <a:latin typeface="IBM Plex Sans"/>
              </a:rPr>
              <a:t>The failing arms are not partially remembering.</a:t>
            </a:r>
          </a:p>
          <a:p>
            <a:pPr algn="l">
              <a:lnSpc>
                <a:spcPct val="105000"/>
              </a:lnSpc>
            </a:pPr>
            <a:r>
              <a:rPr sz="2500" b="0">
                <a:solidFill>
                  <a:srgbClr val="202124"/>
                </a:solidFill>
                <a:latin typeface="IBM Plex Sans"/>
              </a:rPr>
              <a:t>At 7.0 steps the L = 4 arm dashes straight to the fork and always picks the same side — exactly 25/50 here. Its across-seed std of 0.000 is </a:t>
            </a:r>
            <a:r>
              <a:rPr sz="2500" b="1">
                <a:solidFill>
                  <a:srgbClr val="202124"/>
                </a:solidFill>
                <a:latin typeface="IBM Plex Sans"/>
              </a:rPr>
              <a:t>arithmetic, not convergence</a:t>
            </a:r>
            <a:r>
              <a:rPr sz="2500" b="0">
                <a:solidFill>
                  <a:srgbClr val="202124"/>
                </a:solidFill>
                <a:latin typeface="IBM Plex Sans"/>
              </a:rPr>
              <a:t>.</a:t>
            </a:r>
          </a:p>
        </p:txBody>
      </p:sp>
      <p:sp>
        <p:nvSpPr>
          <p:cNvPr id="178" name="Oval 177"/>
          <p:cNvSpPr/>
          <p:nvPr/>
        </p:nvSpPr>
        <p:spPr>
          <a:xfrm>
            <a:off x="12262104" y="38860475"/>
            <a:ext cx="530352" cy="530352"/>
          </a:xfrm>
          <a:prstGeom prst="ellipse">
            <a:avLst/>
          </a:prstGeom>
          <a:solidFill>
            <a:srgbClr val="0B5394"/>
          </a:solidFill>
          <a:ln w="19050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IBM Plex Sans"/>
              </a:rPr>
              <a:t>4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3011912" y="38823899"/>
            <a:ext cx="16559784" cy="182499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>
                <a:solidFill>
                  <a:srgbClr val="202124"/>
                </a:solidFill>
                <a:latin typeface="IBM Plex Sans"/>
              </a:rPr>
              <a:t>The reach costs memory, not time.</a:t>
            </a:r>
          </a:p>
          <a:p>
            <a:pPr algn="l">
              <a:lnSpc>
                <a:spcPct val="105000"/>
              </a:lnSpc>
            </a:pPr>
            <a:r>
              <a:rPr sz="2500" b="0">
                <a:solidFill>
                  <a:srgbClr val="202124"/>
                </a:solidFill>
                <a:latin typeface="IBM Plex Sans"/>
              </a:rPr>
              <a:t>Full BPTT is the </a:t>
            </a:r>
            <a:r>
              <a:rPr sz="2500" b="1">
                <a:solidFill>
                  <a:srgbClr val="202124"/>
                </a:solidFill>
                <a:latin typeface="IBM Plex Sans"/>
              </a:rPr>
              <a:t>fastest</a:t>
            </a:r>
            <a:r>
              <a:rPr sz="2500" b="0">
                <a:solidFill>
                  <a:srgbClr val="202124"/>
                </a:solidFill>
                <a:latin typeface="IBM Plex Sans"/>
              </a:rPr>
              <a:t> GRU arm (1.3 h vs 2.6 h at L = 1) and the earliest (0.95 success at a median of 370 iterations vs 640 for L = 8): halving </a:t>
            </a:r>
            <a:r>
              <a:rPr sz="2500" b="0">
                <a:solidFill>
                  <a:srgbClr val="202124"/>
                </a:solidFill>
                <a:latin typeface="IBM Plex Mono"/>
              </a:rPr>
              <a:t>L</a:t>
            </a:r>
            <a:r>
              <a:rPr sz="2500" b="0">
                <a:solidFill>
                  <a:srgbClr val="202124"/>
                </a:solidFill>
                <a:latin typeface="IBM Plex Sans"/>
              </a:rPr>
              <a:t> doubles the padded, launch-bound sequences. What it pays is VRAM — minibatch 512 vs 4096.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12262104" y="40850057"/>
            <a:ext cx="17309592" cy="1376934"/>
          </a:xfrm>
          <a:prstGeom prst="rect">
            <a:avLst/>
          </a:prstGeom>
          <a:solidFill>
            <a:srgbClr val="EEF3FA"/>
          </a:solidFill>
          <a:ln w="19050">
            <a:solidFill>
              <a:srgbClr val="EEF3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2499848" y="41087801"/>
            <a:ext cx="16834104" cy="9928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0B5394"/>
                </a:solidFill>
                <a:latin typeface="IBM Plex Sans"/>
              </a:rPr>
              <a:t>Recommendation.</a:t>
            </a:r>
            <a:r>
              <a:rPr sz="2600" b="0">
                <a:solidFill>
                  <a:srgbClr val="0B5394"/>
                </a:solidFill>
                <a:latin typeface="IBM Plex Sans"/>
              </a:rPr>
              <a:t> On this task: full BPTT, with L = 8 as the fallback on a smaller GPU. Below 8 you do not get a cheaper solution — you get the MLP's guessing policy at GRU prices.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56032" y="34480144"/>
            <a:ext cx="11338560" cy="8057743"/>
          </a:xfrm>
          <a:prstGeom prst="rect">
            <a:avLst/>
          </a:prstGeom>
          <a:solidFill>
            <a:srgbClr val="FFFFFF"/>
          </a:solidFill>
          <a:ln w="15875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256032" y="34480144"/>
            <a:ext cx="11338560" cy="987552"/>
          </a:xfrm>
          <a:prstGeom prst="rect">
            <a:avLst/>
          </a:prstGeom>
          <a:solidFill>
            <a:srgbClr val="0B5394"/>
          </a:solidFill>
          <a:ln w="19050">
            <a:solidFill>
              <a:srgbClr val="0B53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98448" rIns="0" tIns="0" bIns="0"/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IBM Plex Sans"/>
              </a:rPr>
              <a:t>Limitations &amp; Future Work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411480" y="34585300"/>
            <a:ext cx="777240" cy="777240"/>
          </a:xfrm>
          <a:prstGeom prst="rect">
            <a:avLst/>
          </a:prstGeom>
          <a:solidFill>
            <a:srgbClr val="F3F3F3"/>
          </a:solidFill>
          <a:ln w="19050">
            <a:solidFill>
              <a:srgbClr val="F3F3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4200" b="1">
                <a:solidFill>
                  <a:srgbClr val="0B5394"/>
                </a:solidFill>
                <a:latin typeface="IBM Plex Sans"/>
              </a:rPr>
              <a:t>6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40080" y="35723728"/>
            <a:ext cx="10570464" cy="54806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202124"/>
                </a:solidFill>
                <a:latin typeface="IBM Plex Sans"/>
              </a:rPr>
              <a:t>One task, one architecture, one algorithm.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 </a:t>
            </a:r>
            <a:r>
              <a:rPr sz="2600" b="0">
                <a:solidFill>
                  <a:srgbClr val="202124"/>
                </a:solidFill>
                <a:latin typeface="IBM Plex Mono"/>
              </a:rPr>
              <a:t>L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 ∈ {5,6,7} was never run, so the threshold is </a:t>
            </a:r>
            <a:r>
              <a:rPr sz="2600" b="1">
                <a:solidFill>
                  <a:srgbClr val="202124"/>
                </a:solidFill>
                <a:latin typeface="IBM Plex Sans"/>
              </a:rPr>
              <a:t>bracketed, not located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, and five seeds separate 0.5 from 1.0 safely but support no finer claim.</a:t>
            </a:r>
          </a:p>
          <a:p>
            <a:pPr algn="l" indent="-256032" marL="256032">
              <a:lnSpc>
                <a:spcPct val="106000"/>
              </a:lnSpc>
              <a:spcBef>
                <a:spcPts val="1440"/>
              </a:spcBef>
            </a:pPr>
            <a:r>
              <a:rPr sz="2600" b="0">
                <a:solidFill>
                  <a:srgbClr val="202124"/>
                </a:solidFill>
                <a:latin typeface="IBM Plex Sans"/>
              </a:rPr>
              <a:t>• </a:t>
            </a:r>
            <a:r>
              <a:rPr sz="2600" b="1">
                <a:solidFill>
                  <a:srgbClr val="202124"/>
                </a:solidFill>
                <a:latin typeface="IBM Plex Sans"/>
              </a:rPr>
              <a:t>Locate the threshold.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 Sweep </a:t>
            </a:r>
            <a:r>
              <a:rPr sz="2600" b="0">
                <a:solidFill>
                  <a:srgbClr val="202124"/>
                </a:solidFill>
                <a:latin typeface="IBM Plex Mono"/>
              </a:rPr>
              <a:t>L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 ∈ {5,6,7} and set the corridor length directly instead of leaving it to the environment — a causal test of the gap account.</a:t>
            </a:r>
          </a:p>
          <a:p>
            <a:pPr algn="l" indent="-256032" marL="256032">
              <a:lnSpc>
                <a:spcPct val="106000"/>
              </a:lnSpc>
              <a:spcBef>
                <a:spcPts val="864"/>
              </a:spcBef>
            </a:pPr>
            <a:r>
              <a:rPr sz="2600" b="0">
                <a:solidFill>
                  <a:srgbClr val="202124"/>
                </a:solidFill>
                <a:latin typeface="IBM Plex Sans"/>
              </a:rPr>
              <a:t>• </a:t>
            </a:r>
            <a:r>
              <a:rPr sz="2600" b="1">
                <a:solidFill>
                  <a:srgbClr val="202124"/>
                </a:solidFill>
                <a:latin typeface="IBM Plex Sans"/>
              </a:rPr>
              <a:t>Add R2D2-style burn-in.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 Does a short window then behave like a long one? If so the threshold is about optimisation, not the gradient path.</a:t>
            </a:r>
          </a:p>
          <a:p>
            <a:pPr algn="l" indent="-256032" marL="256032">
              <a:lnSpc>
                <a:spcPct val="106000"/>
              </a:lnSpc>
              <a:spcBef>
                <a:spcPts val="720"/>
              </a:spcBef>
            </a:pPr>
            <a:r>
              <a:rPr sz="2600" b="0">
                <a:solidFill>
                  <a:srgbClr val="202124"/>
                </a:solidFill>
                <a:latin typeface="IBM Plex Sans"/>
              </a:rPr>
              <a:t>• </a:t>
            </a:r>
            <a:r>
              <a:rPr sz="2600" b="1">
                <a:solidFill>
                  <a:srgbClr val="202124"/>
                </a:solidFill>
                <a:latin typeface="IBM Plex Sans"/>
              </a:rPr>
              <a:t>Repeat with an LSTM and a small transformer</a:t>
            </a:r>
            <a:r>
              <a:rPr sz="2600" b="0">
                <a:solidFill>
                  <a:srgbClr val="202124"/>
                </a:solidFill>
                <a:latin typeface="IBM Plex Sans"/>
              </a:rPr>
              <a:t>, where the analogous knob is the attention window.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640080" y="41387267"/>
            <a:ext cx="10570464" cy="19050"/>
          </a:xfrm>
          <a:prstGeom prst="rect">
            <a:avLst/>
          </a:prstGeom>
          <a:solidFill>
            <a:srgbClr val="D5D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40080" y="41533571"/>
            <a:ext cx="10570464" cy="7848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5F6368"/>
                </a:solidFill>
                <a:latin typeface="IBM Plex Sans"/>
              </a:rPr>
              <a:t>References.</a:t>
            </a:r>
            <a:r>
              <a:rPr sz="2000" b="0">
                <a:solidFill>
                  <a:srgbClr val="5F6368"/>
                </a:solidFill>
                <a:latin typeface="IBM Plex Sans"/>
              </a:rPr>
              <a:t> Hausknecht &amp; Stone 2015 · Kapturowski et al. 2019 (R2D2) · Ni et al. 2022 · Schulman et al. 2017 (PPO) · Chevalier-Boisvert et al. 2023 (MiniGrid)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